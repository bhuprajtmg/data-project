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This is a three-minute briefing on World Cup 2026 — the first forty-eight-team tournament, won by Spain, one-nil after extra time against Argentina.</a:t>
            </a:r>
          </a:p>
          <a:p/>
          <a:p>
            <a:r>
              <a:t>We asked four distinct statistical questions, each with a different focal point, and we built two linear models that try to predict the score using only information you could have known before kickoff.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 are real: one hundred and four matches, forty-eight teams, and one thousand and sixteen players who actually appeared.</a:t>
            </a:r>
          </a:p>
          <a:p/>
          <a:p>
            <a:r>
              <a:t>Every Objective 1 task follows the same path: a question, a sample, descriptive statistics, a ninety-five percent confidence interval, and a t-test at alpha 0.05. Objective 2 then asks: if you only know ranking, squad value, age, host status and rest days before the match, how well can you predict the result?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First: are midfielders booked more than defenders? People assume they are because they fight for the ball in midfield. We used yellow cards per appearance, so a seven-match finalist is not punished for playing more, and we sampled forty-five players from each position.</a:t>
            </a:r>
          </a:p>
          <a:p/>
          <a:p>
            <a:r>
              <a:t>Look at the histogram — both groups pile up at zero. Means are 0.10 versus 0.13. p is 0.45, so we fail to reject the null. The “dirty midfield” story is not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Second: did knockouts draw bigger crowds? With forty-eight teams you might expect thin weekday group games. We compared all thirty-two knockout matches with a random sample of thirty-two group matches.</a:t>
            </a:r>
          </a:p>
          <a:p/>
          <a:p>
            <a:r>
              <a:t>The box plots sit on top of each other: about sixty-eight thousand versus sixty-six thousand. p is 0.38. Not significant. This World Cup filled stadiums from match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Third: money. Are UEFA squads worth more on Transfermarkt? Fourteen European teams against fourteen from the rest of the world.</a:t>
            </a:r>
          </a:p>
          <a:p/>
          <a:p>
            <a:r>
              <a:t>The gap is large: six hundred and seventy million euros against two hundred and fifty-seven million — about two and a half times. p is 0.004, a large effect. Europe’s club market really does show up in national-team squads.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Fourth: do goalkeepers last longer? We tested keepers who appeared against the usual outfield “prime” of twenty-seven, and against outfield teammates.</a:t>
            </a:r>
          </a:p>
          <a:p/>
          <a:p>
            <a:r>
              <a:t>The dashed line on the chart is twenty-seven. The keeper box sits clearly above it, at 30.3 years. p is 0.0001. They are also about three and a half years older than outfield players. That longer shelf life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two models. Eight predictors each, all knowable before kickoff — no shots, no possession.</a:t>
            </a:r>
          </a:p>
          <a:p/>
          <a:p>
            <a:r>
              <a:t>On the left, goal difference across one hundred and four matches. R-squared 0.49. Typical error about one and a half goals. What mattered: ranking gap and squad-value gap. Host, rest and age dropped out.</a:t>
            </a:r>
          </a:p>
          <a:p/>
          <a:p>
            <a:r>
              <a:t>On the right, goals scored by a team, two hundred and eight rows. R-squared 0.29 — noisier, because one tally is harder than a difference. What mattered: opponent’s rank and own squad value. The scatter plots are the held-out tests: they follow the diagonal, with the noise you expect from football.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takeaways. Crowds did not wait for knockouts. Europe’s money is a real gap. And before a match, rank and squad value — not rest days or host status — are what move the scoreline.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3108960" cy="256032"/>
          </a:xfrm>
          <a:prstGeom prst="rect">
            <a:avLst/>
          </a:prstGeom>
          <a:solidFill>
            <a:srgbClr val="D9A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 i="0">
                <a:solidFill>
                  <a:srgbClr val="D9A544"/>
                </a:solidFill>
                <a:latin typeface="Calibri"/>
              </a:rPr>
              <a:t>HIT140  ·  THREE-MINUTE BRIEFING</a:t>
            </a:r>
          </a:p>
          <a:p>
            <a:pPr algn="l">
              <a:spcAft>
                <a:spcPts val="800"/>
              </a:spcAft>
            </a:pPr>
            <a:r>
              <a:rPr sz="5200" b="0" i="1">
                <a:solidFill>
                  <a:srgbClr val="EFE6D3"/>
                </a:solidFill>
                <a:latin typeface="Georgia"/>
              </a:rPr>
              <a:t>World Cup 2026</a:t>
            </a:r>
          </a:p>
          <a:p>
            <a:pPr algn="l">
              <a:spcAft>
                <a:spcPts val="2200"/>
              </a:spcAft>
            </a:pPr>
            <a:r>
              <a:rPr sz="2200" b="0" i="1">
                <a:solidFill>
                  <a:srgbClr val="D9A544"/>
                </a:solidFill>
                <a:latin typeface="Georgia"/>
              </a:rPr>
              <a:t>What we asked, how we tested it, and what held up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B9B6AC"/>
                </a:solidFill>
                <a:latin typeface="Calibri"/>
              </a:rPr>
              <a:t>Four distinct statistical questions, each with a sample, a 95% confidence interval, and a t-test.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B9B6AC"/>
                </a:solidFill>
                <a:latin typeface="Calibri"/>
              </a:rPr>
              <a:t>Two linear models using only information available before kickoff.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9B6AC"/>
                </a:solidFill>
                <a:latin typeface="Calibri"/>
              </a:rPr>
              <a:t>Spain 1–0 Argentina after extra time  ·  19 July 2026  ·  MetLife Stadium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8C2F39"/>
                </a:solidFill>
                <a:latin typeface="Calibri"/>
              </a:rPr>
              <a:t>HOW THE WORK WAS SET UP</a:t>
            </a:r>
          </a:p>
          <a:p>
            <a:pPr algn="l">
              <a:spcAft>
                <a:spcPts val="0"/>
              </a:spcAft>
            </a:pPr>
            <a:r>
              <a:rPr sz="2400" b="0" i="1">
                <a:solidFill>
                  <a:srgbClr val="171B22"/>
                </a:solidFill>
                <a:latin typeface="Georgia"/>
              </a:rPr>
              <a:t>Real data, then the same inferential path every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2743200" cy="1691640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D9A544"/>
                </a:solidFill>
                <a:latin typeface="Georgia"/>
              </a:rPr>
              <a:t>104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FE6D3"/>
                </a:solidFill>
                <a:latin typeface="Calibri"/>
              </a:rPr>
              <a:t>official matches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280160"/>
            <a:ext cx="2743200" cy="1691640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46304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D9A544"/>
                </a:solidFill>
                <a:latin typeface="Georgia"/>
              </a:rPr>
              <a:t>48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FE6D3"/>
                </a:solidFill>
                <a:latin typeface="Calibri"/>
              </a:rPr>
              <a:t>national teams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280160"/>
            <a:ext cx="2743200" cy="1691640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D9A544"/>
                </a:solidFill>
                <a:latin typeface="Georgia"/>
              </a:rPr>
              <a:t>1,016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FE6D3"/>
                </a:solidFill>
                <a:latin typeface="Calibri"/>
              </a:rPr>
              <a:t>players who featured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81160" y="1280160"/>
            <a:ext cx="2743200" cy="1691640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146304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D9A544"/>
                </a:solidFill>
                <a:latin typeface="Georgia"/>
              </a:rPr>
              <a:t>α = 0.05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FE6D3"/>
                </a:solidFill>
                <a:latin typeface="Calibri"/>
              </a:rPr>
              <a:t>every hypothesis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11155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71B22"/>
                </a:solidFill>
                <a:latin typeface="Calibri"/>
              </a:rPr>
              <a:t>Each Objective 1 task had a different focal point — discipline, crowds, money, age — so we were not asking the same goals question four times.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71B22"/>
                </a:solidFill>
                <a:latin typeface="Calibri"/>
              </a:rPr>
              <a:t>Pipeline for every task:  formulate the question  →  wrangle  →  sample  →  describe  →  95% CI  →  t-test.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84F44"/>
                </a:solidFill>
                <a:latin typeface="Calibri"/>
              </a:rPr>
              <a:t>Objective 2 is different: predict the score from eight pre-match variables only. Ranking, squad value, age, host status, rest days, confederation, knockout flag. No shots, no possession, nothing from during the game.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8C2F39"/>
                </a:solidFill>
                <a:latin typeface="Calibri"/>
              </a:rPr>
              <a:t>TASK 1  ·  PLAYER DISCIPLINE</a:t>
            </a:r>
          </a:p>
          <a:p>
            <a:pPr algn="l">
              <a:spcAft>
                <a:spcPts val="0"/>
              </a:spcAft>
            </a:pPr>
            <a:r>
              <a:rPr sz="2400" b="0" i="1">
                <a:solidFill>
                  <a:srgbClr val="171B22"/>
                </a:solidFill>
                <a:latin typeface="Georgia"/>
              </a:rPr>
              <a:t>Are midfielders booked more than defenders?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6235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The story people tell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Midfielders fight for the ball in the middle of the pitch, so they should pick up more yellow cards.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How we tested it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Only players with at least one appearance. Outcome is cards per appearance, so a seven-match finalist is compared fairly with a one-match substitute. Simple random sample of 45 midfielders and 45 defenders.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What the chart shows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Both groups pile up at zero. Means: 0.10 vs 0.13. 95% CI for midfielders (0.04, 0.16).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Decision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71B22"/>
                </a:solidFill>
                <a:latin typeface="Calibri"/>
              </a:rPr>
              <a:t>t-test p = 0.45. Fail to reject H₀. The “dirty midfield” is not supported.</a:t>
            </a:r>
          </a:p>
        </p:txBody>
      </p:sp>
      <p:pic>
        <p:nvPicPr>
          <p:cNvPr id="6" name="Picture 5" descr="task1_discip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5440680" cy="21386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8C2F39"/>
                </a:solidFill>
                <a:latin typeface="Calibri"/>
              </a:rPr>
              <a:t>TASK 2  ·  MATCH-DAY ATTENDANCE</a:t>
            </a:r>
          </a:p>
          <a:p>
            <a:pPr algn="l">
              <a:spcAft>
                <a:spcPts val="0"/>
              </a:spcAft>
            </a:pPr>
            <a:r>
              <a:rPr sz="2400" b="0" i="1">
                <a:solidFill>
                  <a:srgbClr val="171B22"/>
                </a:solidFill>
                <a:latin typeface="Georgia"/>
              </a:rPr>
              <a:t>Did knockout games draw bigger crowds?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6235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The story people tell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A 48-team group stage is spread across weekday slots, so knockouts should look fuller.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How we tested it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All 104 matches have official attendance. Stratified sample: every knockout match (32) plus 32 random group matches, so the two groups are the same size.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What the chart shows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The boxes sit on top of each other. Means: 67,701 vs 65,747. Overall 95% CI about (64.5k, 68.9k).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Decision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71B22"/>
                </a:solidFill>
                <a:latin typeface="Calibri"/>
              </a:rPr>
              <a:t>p = 0.38. Fail to reject H₀. Crowds were large from match one — they did not wait for the knockouts.</a:t>
            </a:r>
          </a:p>
        </p:txBody>
      </p:sp>
      <p:pic>
        <p:nvPicPr>
          <p:cNvPr id="6" name="Picture 5" descr="task2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5440680" cy="30986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8C2F39"/>
                </a:solidFill>
                <a:latin typeface="Calibri"/>
              </a:rPr>
              <a:t>TASK 3  ·  SQUAD MARKET VALUE</a:t>
            </a:r>
          </a:p>
          <a:p>
            <a:pPr algn="l">
              <a:spcAft>
                <a:spcPts val="0"/>
              </a:spcAft>
            </a:pPr>
            <a:r>
              <a:rPr sz="2400" b="0" i="1">
                <a:solidFill>
                  <a:srgbClr val="171B22"/>
                </a:solidFill>
                <a:latin typeface="Georgia"/>
              </a:rPr>
              <a:t>Do UEFA squads carry more value than the rest?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6235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The story people tell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European national teams stock their World Cup squads from the richest club leagues, so they should be worth more.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How we tested it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Transfermarkt value of each 26-man squad. Balanced sample of 14 UEFA teams and 14 from CONMEBOL, CONCACAF, CAF, AFC and OFC. One-sided test: UEFA higher.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What the chart shows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UEFA median and mean sit far above the rest: €670m vs €257m — about 2.6 times.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Decision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71B22"/>
                </a:solidFill>
                <a:latin typeface="Calibri"/>
              </a:rPr>
              <a:t>p = 0.004. Reject H₀. Large effect (d = 1.08). Europe’s club market shows up at national-team level.</a:t>
            </a:r>
          </a:p>
        </p:txBody>
      </p:sp>
      <p:pic>
        <p:nvPicPr>
          <p:cNvPr id="6" name="Picture 5" descr="task3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5440680" cy="31046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8C2F39"/>
                </a:solidFill>
                <a:latin typeface="Calibri"/>
              </a:rPr>
              <a:t>TASK 4  ·  GOALKEEPER AGE</a:t>
            </a:r>
          </a:p>
          <a:p>
            <a:pPr algn="l">
              <a:spcAft>
                <a:spcPts val="0"/>
              </a:spcAft>
            </a:pPr>
            <a:r>
              <a:rPr sz="2400" b="0" i="1">
                <a:solidFill>
                  <a:srgbClr val="171B22"/>
                </a:solidFill>
                <a:latin typeface="Georgia"/>
              </a:rPr>
              <a:t>Do keepers last past the outfield “prime” of 27?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6235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The story people tell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Goalkeepers peak later and keep their place into their thirties, unlike outfield players.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How we tested it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One-sample t-test of keepers who appeared (n = 40) against a fixed 27-year benchmark. Then a supporting two-sample comparison with 40 outfield players.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What the chart shows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71B22"/>
                </a:solidFill>
                <a:latin typeface="Calibri"/>
              </a:rPr>
              <a:t>The dashed line is 27. The keeper box sits clearly above it. Mean 30.3 years; 95% CI (28.7, 31.9).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C2F39"/>
                </a:solidFill>
                <a:latin typeface="Calibri"/>
              </a:rPr>
              <a:t>Decision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71B22"/>
                </a:solidFill>
                <a:latin typeface="Calibri"/>
              </a:rPr>
              <a:t>p = 0.0001 vs 27. Also 3.6 years older than outfielders (p = 0.0004). Longer shelf life is real.</a:t>
            </a:r>
          </a:p>
        </p:txBody>
      </p:sp>
      <p:pic>
        <p:nvPicPr>
          <p:cNvPr id="6" name="Picture 5" descr="task4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5440680" cy="30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8C2F39"/>
                </a:solidFill>
                <a:latin typeface="Calibri"/>
              </a:rPr>
              <a:t>OBJECTIVE 2  ·  TWO PRE-MATCH MODELS</a:t>
            </a:r>
          </a:p>
          <a:p>
            <a:pPr algn="l">
              <a:spcAft>
                <a:spcPts val="0"/>
              </a:spcAft>
            </a:pPr>
            <a:r>
              <a:rPr sz="2400" b="0" i="1">
                <a:solidFill>
                  <a:srgbClr val="171B22"/>
                </a:solidFill>
                <a:latin typeface="Georgia"/>
              </a:rPr>
              <a:t>Can we predict the score before kickoff?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84F44"/>
                </a:solidFill>
                <a:latin typeface="Calibri"/>
              </a:rPr>
              <a:t>Eight explanatory variables in each model, all knowable before the match — ranking, squad value, age, host, rest, confederation, knockout. No shots. No possession.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5532120" cy="1234440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74519"/>
            <a:ext cx="5257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D9A544"/>
                </a:solidFill>
                <a:latin typeface="Calibri"/>
              </a:rPr>
              <a:t>2.1  Goal difference  ·  104 matches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FE6D3"/>
                </a:solidFill>
                <a:latin typeface="Calibri"/>
              </a:rPr>
              <a:t>R² = 0.49   ·   test RMSE 1.57 goals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Significant: FIFA rank gap, squad-value gap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783080"/>
            <a:ext cx="5532120" cy="1234440"/>
          </a:xfrm>
          <a:prstGeom prst="rect">
            <a:avLst/>
          </a:prstGeom>
          <a:solidFill>
            <a:srgbClr val="24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874519"/>
            <a:ext cx="5257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D9A544"/>
                </a:solidFill>
                <a:latin typeface="Calibri"/>
              </a:rPr>
              <a:t>2.2  Team goals  ·  208 team-matches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FE6D3"/>
                </a:solidFill>
                <a:latin typeface="Calibri"/>
              </a:rPr>
              <a:t>R² = 0.29   ·   test RMSE 1.23 goals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Significant: opponent rank, own squad value</a:t>
            </a:r>
          </a:p>
        </p:txBody>
      </p:sp>
      <p:pic>
        <p:nvPicPr>
          <p:cNvPr id="10" name="Picture 9" descr="reg1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54680"/>
            <a:ext cx="5532120" cy="5539607"/>
          </a:xfrm>
          <a:prstGeom prst="rect">
            <a:avLst/>
          </a:prstGeom>
        </p:spPr>
      </p:pic>
      <p:pic>
        <p:nvPicPr>
          <p:cNvPr id="11" name="Picture 10" descr="reg2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154680"/>
            <a:ext cx="5532120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3108960" cy="256032"/>
          </a:xfrm>
          <a:prstGeom prst="rect">
            <a:avLst/>
          </a:prstGeom>
          <a:solidFill>
            <a:srgbClr val="D9A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D9A544"/>
                </a:solidFill>
                <a:latin typeface="Calibri"/>
              </a:rPr>
              <a:t>WALK-AWAY POINTS</a:t>
            </a:r>
          </a:p>
          <a:p>
            <a:pPr algn="l">
              <a:spcAft>
                <a:spcPts val="0"/>
              </a:spcAft>
            </a:pPr>
            <a:r>
              <a:rPr sz="3000" b="0" i="1">
                <a:solidFill>
                  <a:srgbClr val="EFE6D3"/>
                </a:solidFill>
                <a:latin typeface="Georgia"/>
              </a:rPr>
              <a:t>What survived the tests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17320"/>
            <a:ext cx="640080" cy="640080"/>
          </a:xfrm>
          <a:prstGeom prst="rect">
            <a:avLst/>
          </a:prstGeom>
          <a:solidFill>
            <a:srgbClr val="D9A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71B22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4173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EFE6D3"/>
                </a:solidFill>
                <a:latin typeface="Georgia"/>
              </a:rPr>
              <a:t>Crowds did not wait for knockouts.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9B6AC"/>
                </a:solidFill>
                <a:latin typeface="Calibri"/>
              </a:rPr>
              <a:t>Group and knockout attendance were statistically the same. The 48-team format still filled grounds.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71800"/>
            <a:ext cx="640080" cy="640080"/>
          </a:xfrm>
          <a:prstGeom prst="rect">
            <a:avLst/>
          </a:prstGeom>
          <a:solidFill>
            <a:srgbClr val="D9A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08152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71B22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97180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EFE6D3"/>
                </a:solidFill>
                <a:latin typeface="Georgia"/>
              </a:rPr>
              <a:t>Europe’s money is a real gap.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9B6AC"/>
                </a:solidFill>
                <a:latin typeface="Calibri"/>
              </a:rPr>
              <a:t>UEFA squads were about 2.6 times more valuable. Keepers were also clearly older than 27.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640080" cy="640080"/>
          </a:xfrm>
          <a:prstGeom prst="rect">
            <a:avLst/>
          </a:prstGeom>
          <a:solidFill>
            <a:srgbClr val="D9A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71B22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52628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EFE6D3"/>
                </a:solidFill>
                <a:latin typeface="Georgia"/>
              </a:rPr>
              <a:t>Rank and value beat folklore.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9B6AC"/>
                </a:solidFill>
                <a:latin typeface="Calibri"/>
              </a:rPr>
              <a:t>They predict goal difference and goals. Host, rest and age drop out once those two are in the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