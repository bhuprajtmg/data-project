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0:00–0:20  Open: This is a 3-minute briefing on FIFA World Cup 2026. Spain beat Argentina 1–0 in extra time. We asked four distinct statistical questions and built two linear models using only information available before kickoff.</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0:20–0:45  Data: 104 official matches, 48 teams, 1,016 players who actually appeared. Sources: FIFA, Wikipedia, Transfermarkt, fotmob. Every Objective 1 task follows the same six skills. Both regressions use only variables knowable before kickoff — no shots, no possession.</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0:45–1:25  Two popular stories failed. Midfielders 0.10 yellows per appearance vs defenders 0.13 — not significant. Knockout attendance 67,700 vs group 65,700 — also not significant. Say: the expanded World Cup did not have empty group games.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1:25–2:10  Two results that did land. UEFA squads about 2.6 times more valuable — p=0.004, large effect. Goalkeepers average 30.3 years, significantly older than 27, and 3.6 years older than outfield players. Mention Ochoa at 40 if you have a second.</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2:10–2:50  Two models, eight pre-match variables each. Goal difference: training R² 0.49. Significant: ranking gap and market-value gap. Team goals: R² 0.29 — opponent rank and own value. Stress: nothing from during the match is used. Host and rest days drop out once rank and money are controlled.</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2:50–3:00  Close on three lines: crowds were full from day one; UEFA squads are far richer; before a match, FIFA rank and squad value are what move the scoreline — not host status or rest days. Stop. Invite questions.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71B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601968"/>
            <a:ext cx="12191695" cy="256032"/>
          </a:xfrm>
          <a:prstGeom prst="rect">
            <a:avLst/>
          </a:prstGeom>
          <a:solidFill>
            <a:srgbClr val="8C2F3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6601968"/>
            <a:ext cx="3108960" cy="256032"/>
          </a:xfrm>
          <a:prstGeom prst="rect">
            <a:avLst/>
          </a:prstGeom>
          <a:solidFill>
            <a:srgbClr val="D9A5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77240" y="1417320"/>
            <a:ext cx="10515600" cy="365760"/>
          </a:xfrm>
          <a:prstGeom prst="rect">
            <a:avLst/>
          </a:prstGeom>
          <a:noFill/>
        </p:spPr>
        <p:txBody>
          <a:bodyPr wrap="square">
            <a:spAutoFit/>
          </a:bodyPr>
          <a:lstStyle/>
          <a:p>
            <a:pPr algn="l">
              <a:spcAft>
                <a:spcPts val="400"/>
              </a:spcAft>
            </a:pPr>
            <a:r>
              <a:rPr sz="1400" b="1" i="0">
                <a:solidFill>
                  <a:srgbClr val="D9A544"/>
                </a:solidFill>
                <a:latin typeface="Calibri"/>
              </a:rPr>
              <a:t>HIT140  ·  3-MINUTE BRIEFING</a:t>
            </a:r>
          </a:p>
        </p:txBody>
      </p:sp>
      <p:sp>
        <p:nvSpPr>
          <p:cNvPr id="6" name="TextBox 5"/>
          <p:cNvSpPr txBox="1"/>
          <p:nvPr/>
        </p:nvSpPr>
        <p:spPr>
          <a:xfrm>
            <a:off x="731520" y="1874519"/>
            <a:ext cx="10607040" cy="2011680"/>
          </a:xfrm>
          <a:prstGeom prst="rect">
            <a:avLst/>
          </a:prstGeom>
          <a:noFill/>
        </p:spPr>
        <p:txBody>
          <a:bodyPr wrap="square">
            <a:spAutoFit/>
          </a:bodyPr>
          <a:lstStyle/>
          <a:p>
            <a:pPr algn="l">
              <a:spcAft>
                <a:spcPts val="0"/>
              </a:spcAft>
            </a:pPr>
            <a:r>
              <a:rPr sz="5400" b="0" i="1">
                <a:solidFill>
                  <a:srgbClr val="EFE6D3"/>
                </a:solidFill>
                <a:latin typeface="Georgia"/>
              </a:rPr>
              <a:t>World Cup 2026</a:t>
            </a:r>
          </a:p>
          <a:p>
            <a:pPr algn="l">
              <a:spcAft>
                <a:spcPts val="400"/>
              </a:spcAft>
            </a:pPr>
            <a:r>
              <a:rPr sz="2800" b="0" i="1">
                <a:solidFill>
                  <a:srgbClr val="D9A544"/>
                </a:solidFill>
                <a:latin typeface="Georgia"/>
              </a:rPr>
              <a:t>What the numbers actually said</a:t>
            </a:r>
          </a:p>
        </p:txBody>
      </p:sp>
      <p:sp>
        <p:nvSpPr>
          <p:cNvPr id="7" name="TextBox 6"/>
          <p:cNvSpPr txBox="1"/>
          <p:nvPr/>
        </p:nvSpPr>
        <p:spPr>
          <a:xfrm>
            <a:off x="777240" y="4709160"/>
            <a:ext cx="10424160" cy="1280160"/>
          </a:xfrm>
          <a:prstGeom prst="rect">
            <a:avLst/>
          </a:prstGeom>
          <a:noFill/>
        </p:spPr>
        <p:txBody>
          <a:bodyPr wrap="square">
            <a:spAutoFit/>
          </a:bodyPr>
          <a:lstStyle/>
          <a:p>
            <a:pPr algn="l">
              <a:spcAft>
                <a:spcPts val="400"/>
              </a:spcAft>
            </a:pPr>
            <a:r>
              <a:rPr sz="1800" b="0" i="0">
                <a:solidFill>
                  <a:srgbClr val="B9B6AC"/>
                </a:solidFill>
                <a:latin typeface="Calibri"/>
              </a:rPr>
              <a:t>Four statistical questions  ·  Two pre-match prediction models</a:t>
            </a:r>
          </a:p>
          <a:p>
            <a:pPr algn="l">
              <a:spcAft>
                <a:spcPts val="400"/>
              </a:spcAft>
            </a:pPr>
            <a:r>
              <a:rPr sz="1600" b="0" i="0">
                <a:solidFill>
                  <a:srgbClr val="B9B6AC"/>
                </a:solidFill>
                <a:latin typeface="Calibri"/>
              </a:rPr>
              <a:t>Spain 1–0 Argentina (AET)  ·  19 July 2026  ·  MetLife Stadium</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EFE6D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9728"/>
          </a:xfrm>
          <a:prstGeom prst="rect">
            <a:avLst/>
          </a:prstGeom>
          <a:solidFill>
            <a:srgbClr val="171B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320040"/>
            <a:ext cx="10972800" cy="822960"/>
          </a:xfrm>
          <a:prstGeom prst="rect">
            <a:avLst/>
          </a:prstGeom>
          <a:noFill/>
        </p:spPr>
        <p:txBody>
          <a:bodyPr wrap="square">
            <a:spAutoFit/>
          </a:bodyPr>
          <a:lstStyle/>
          <a:p>
            <a:pPr algn="l">
              <a:spcAft>
                <a:spcPts val="200"/>
              </a:spcAft>
            </a:pPr>
            <a:r>
              <a:rPr sz="1300" b="1" i="0">
                <a:solidFill>
                  <a:srgbClr val="8C2F39"/>
                </a:solidFill>
                <a:latin typeface="Calibri"/>
              </a:rPr>
              <a:t>THE MATERIAL</a:t>
            </a:r>
          </a:p>
          <a:p>
            <a:pPr algn="l">
              <a:spcAft>
                <a:spcPts val="400"/>
              </a:spcAft>
            </a:pPr>
            <a:r>
              <a:rPr sz="2800" b="0" i="1">
                <a:solidFill>
                  <a:srgbClr val="171B22"/>
                </a:solidFill>
                <a:latin typeface="Georgia"/>
              </a:rPr>
              <a:t>Real tournament data — not simulations</a:t>
            </a:r>
          </a:p>
        </p:txBody>
      </p:sp>
      <p:sp>
        <p:nvSpPr>
          <p:cNvPr id="5" name="Rectangle 4"/>
          <p:cNvSpPr/>
          <p:nvPr/>
        </p:nvSpPr>
        <p:spPr>
          <a:xfrm>
            <a:off x="640080" y="1554480"/>
            <a:ext cx="2651760" cy="1965960"/>
          </a:xfrm>
          <a:prstGeom prst="rect">
            <a:avLst/>
          </a:prstGeom>
          <a:solidFill>
            <a:srgbClr val="171B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77240" y="1783080"/>
            <a:ext cx="2377440" cy="1554480"/>
          </a:xfrm>
          <a:prstGeom prst="rect">
            <a:avLst/>
          </a:prstGeom>
          <a:noFill/>
        </p:spPr>
        <p:txBody>
          <a:bodyPr wrap="square">
            <a:spAutoFit/>
          </a:bodyPr>
          <a:lstStyle/>
          <a:p>
            <a:pPr algn="ctr">
              <a:spcAft>
                <a:spcPts val="600"/>
              </a:spcAft>
            </a:pPr>
            <a:r>
              <a:rPr sz="3200" b="1" i="0">
                <a:solidFill>
                  <a:srgbClr val="D9A544"/>
                </a:solidFill>
                <a:latin typeface="Georgia"/>
              </a:rPr>
              <a:t>104</a:t>
            </a:r>
          </a:p>
          <a:p>
            <a:pPr algn="ctr">
              <a:spcAft>
                <a:spcPts val="400"/>
              </a:spcAft>
            </a:pPr>
            <a:r>
              <a:rPr sz="1400" b="0" i="0">
                <a:solidFill>
                  <a:srgbClr val="EFE6D3"/>
                </a:solidFill>
                <a:latin typeface="Calibri"/>
              </a:rPr>
              <a:t>matches</a:t>
            </a:r>
          </a:p>
        </p:txBody>
      </p:sp>
      <p:sp>
        <p:nvSpPr>
          <p:cNvPr id="7" name="Rectangle 6"/>
          <p:cNvSpPr/>
          <p:nvPr/>
        </p:nvSpPr>
        <p:spPr>
          <a:xfrm>
            <a:off x="3474720" y="1554480"/>
            <a:ext cx="2651760" cy="1965960"/>
          </a:xfrm>
          <a:prstGeom prst="rect">
            <a:avLst/>
          </a:prstGeom>
          <a:solidFill>
            <a:srgbClr val="171B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611880" y="1783080"/>
            <a:ext cx="2377440" cy="1554480"/>
          </a:xfrm>
          <a:prstGeom prst="rect">
            <a:avLst/>
          </a:prstGeom>
          <a:noFill/>
        </p:spPr>
        <p:txBody>
          <a:bodyPr wrap="square">
            <a:spAutoFit/>
          </a:bodyPr>
          <a:lstStyle/>
          <a:p>
            <a:pPr algn="ctr">
              <a:spcAft>
                <a:spcPts val="600"/>
              </a:spcAft>
            </a:pPr>
            <a:r>
              <a:rPr sz="3200" b="1" i="0">
                <a:solidFill>
                  <a:srgbClr val="D9A544"/>
                </a:solidFill>
                <a:latin typeface="Georgia"/>
              </a:rPr>
              <a:t>48</a:t>
            </a:r>
          </a:p>
          <a:p>
            <a:pPr algn="ctr">
              <a:spcAft>
                <a:spcPts val="400"/>
              </a:spcAft>
            </a:pPr>
            <a:r>
              <a:rPr sz="1400" b="0" i="0">
                <a:solidFill>
                  <a:srgbClr val="EFE6D3"/>
                </a:solidFill>
                <a:latin typeface="Calibri"/>
              </a:rPr>
              <a:t>teams</a:t>
            </a:r>
          </a:p>
        </p:txBody>
      </p:sp>
      <p:sp>
        <p:nvSpPr>
          <p:cNvPr id="9" name="Rectangle 8"/>
          <p:cNvSpPr/>
          <p:nvPr/>
        </p:nvSpPr>
        <p:spPr>
          <a:xfrm>
            <a:off x="6309360" y="1554480"/>
            <a:ext cx="2651760" cy="1965960"/>
          </a:xfrm>
          <a:prstGeom prst="rect">
            <a:avLst/>
          </a:prstGeom>
          <a:solidFill>
            <a:srgbClr val="171B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46520" y="1783080"/>
            <a:ext cx="2377440" cy="1554480"/>
          </a:xfrm>
          <a:prstGeom prst="rect">
            <a:avLst/>
          </a:prstGeom>
          <a:noFill/>
        </p:spPr>
        <p:txBody>
          <a:bodyPr wrap="square">
            <a:spAutoFit/>
          </a:bodyPr>
          <a:lstStyle/>
          <a:p>
            <a:pPr algn="ctr">
              <a:spcAft>
                <a:spcPts val="600"/>
              </a:spcAft>
            </a:pPr>
            <a:r>
              <a:rPr sz="3200" b="1" i="0">
                <a:solidFill>
                  <a:srgbClr val="D9A544"/>
                </a:solidFill>
                <a:latin typeface="Georgia"/>
              </a:rPr>
              <a:t>1,016</a:t>
            </a:r>
          </a:p>
          <a:p>
            <a:pPr algn="ctr">
              <a:spcAft>
                <a:spcPts val="400"/>
              </a:spcAft>
            </a:pPr>
            <a:r>
              <a:rPr sz="1400" b="0" i="0">
                <a:solidFill>
                  <a:srgbClr val="EFE6D3"/>
                </a:solidFill>
                <a:latin typeface="Calibri"/>
              </a:rPr>
              <a:t>players who featured</a:t>
            </a:r>
          </a:p>
        </p:txBody>
      </p:sp>
      <p:sp>
        <p:nvSpPr>
          <p:cNvPr id="11" name="Rectangle 10"/>
          <p:cNvSpPr/>
          <p:nvPr/>
        </p:nvSpPr>
        <p:spPr>
          <a:xfrm>
            <a:off x="9144000" y="1554480"/>
            <a:ext cx="2651760" cy="1965960"/>
          </a:xfrm>
          <a:prstGeom prst="rect">
            <a:avLst/>
          </a:prstGeom>
          <a:solidFill>
            <a:srgbClr val="171B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281160" y="1783080"/>
            <a:ext cx="2377440" cy="1554480"/>
          </a:xfrm>
          <a:prstGeom prst="rect">
            <a:avLst/>
          </a:prstGeom>
          <a:noFill/>
        </p:spPr>
        <p:txBody>
          <a:bodyPr wrap="square">
            <a:spAutoFit/>
          </a:bodyPr>
          <a:lstStyle/>
          <a:p>
            <a:pPr algn="ctr">
              <a:spcAft>
                <a:spcPts val="600"/>
              </a:spcAft>
            </a:pPr>
            <a:r>
              <a:rPr sz="3200" b="1" i="0">
                <a:solidFill>
                  <a:srgbClr val="D9A544"/>
                </a:solidFill>
                <a:latin typeface="Georgia"/>
              </a:rPr>
              <a:t>α = 0.05</a:t>
            </a:r>
          </a:p>
          <a:p>
            <a:pPr algn="ctr">
              <a:spcAft>
                <a:spcPts val="400"/>
              </a:spcAft>
            </a:pPr>
            <a:r>
              <a:rPr sz="1400" b="0" i="0">
                <a:solidFill>
                  <a:srgbClr val="EFE6D3"/>
                </a:solidFill>
                <a:latin typeface="Calibri"/>
              </a:rPr>
              <a:t>every test</a:t>
            </a:r>
          </a:p>
        </p:txBody>
      </p:sp>
      <p:sp>
        <p:nvSpPr>
          <p:cNvPr id="13" name="TextBox 12"/>
          <p:cNvSpPr txBox="1"/>
          <p:nvPr/>
        </p:nvSpPr>
        <p:spPr>
          <a:xfrm>
            <a:off x="640080" y="3840480"/>
            <a:ext cx="10972800" cy="2377440"/>
          </a:xfrm>
          <a:prstGeom prst="rect">
            <a:avLst/>
          </a:prstGeom>
          <a:noFill/>
        </p:spPr>
        <p:txBody>
          <a:bodyPr wrap="square">
            <a:spAutoFit/>
          </a:bodyPr>
          <a:lstStyle/>
          <a:p>
            <a:pPr algn="l">
              <a:spcAft>
                <a:spcPts val="1000"/>
              </a:spcAft>
            </a:pPr>
            <a:r>
              <a:rPr sz="1800" b="1" i="0">
                <a:solidFill>
                  <a:srgbClr val="171B22"/>
                </a:solidFill>
                <a:latin typeface="Calibri"/>
              </a:rPr>
              <a:t>Each of the four tasks used the same pipeline</a:t>
            </a:r>
          </a:p>
          <a:p>
            <a:pPr algn="l">
              <a:spcAft>
                <a:spcPts val="1400"/>
              </a:spcAft>
            </a:pPr>
            <a:r>
              <a:rPr sz="1600" b="0" i="0">
                <a:solidFill>
                  <a:srgbClr val="584F44"/>
                </a:solidFill>
                <a:latin typeface="Calibri"/>
              </a:rPr>
              <a:t>Question  →  wrangle  →  sample  →  describe  →  95% confidence interval  →  t-test</a:t>
            </a:r>
          </a:p>
          <a:p>
            <a:pPr algn="l">
              <a:spcAft>
                <a:spcPts val="400"/>
              </a:spcAft>
            </a:pPr>
            <a:r>
              <a:rPr sz="1600" b="0" i="0">
                <a:solidFill>
                  <a:srgbClr val="584F44"/>
                </a:solidFill>
                <a:latin typeface="Calibri"/>
              </a:rPr>
              <a:t>Then two OLS models, 8 pre-match predictors each: goal difference (104 rows) and goals scored by a team (208 rows).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EFE6D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9728"/>
          </a:xfrm>
          <a:prstGeom prst="rect">
            <a:avLst/>
          </a:prstGeom>
          <a:solidFill>
            <a:srgbClr val="171B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292608"/>
            <a:ext cx="10972800" cy="868680"/>
          </a:xfrm>
          <a:prstGeom prst="rect">
            <a:avLst/>
          </a:prstGeom>
          <a:noFill/>
        </p:spPr>
        <p:txBody>
          <a:bodyPr wrap="square">
            <a:spAutoFit/>
          </a:bodyPr>
          <a:lstStyle/>
          <a:p>
            <a:pPr algn="l">
              <a:spcAft>
                <a:spcPts val="200"/>
              </a:spcAft>
            </a:pPr>
            <a:r>
              <a:rPr sz="1300" b="1" i="0">
                <a:solidFill>
                  <a:srgbClr val="8C2F39"/>
                </a:solidFill>
                <a:latin typeface="Calibri"/>
              </a:rPr>
              <a:t>OBJECTIVE 1  ·  TWO NON-RESULTS</a:t>
            </a:r>
          </a:p>
          <a:p>
            <a:pPr algn="l">
              <a:spcAft>
                <a:spcPts val="400"/>
              </a:spcAft>
            </a:pPr>
            <a:r>
              <a:rPr sz="2600" b="0" i="1">
                <a:solidFill>
                  <a:srgbClr val="171B22"/>
                </a:solidFill>
                <a:latin typeface="Georgia"/>
              </a:rPr>
              <a:t>Some football stories did not survive the test</a:t>
            </a:r>
          </a:p>
        </p:txBody>
      </p:sp>
      <p:sp>
        <p:nvSpPr>
          <p:cNvPr id="5" name="Rectangle 4"/>
          <p:cNvSpPr/>
          <p:nvPr/>
        </p:nvSpPr>
        <p:spPr>
          <a:xfrm>
            <a:off x="640080" y="1417320"/>
            <a:ext cx="5349240" cy="4846320"/>
          </a:xfrm>
          <a:prstGeom prst="rect">
            <a:avLst/>
          </a:prstGeom>
          <a:solidFill>
            <a:srgbClr val="171B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1645920"/>
            <a:ext cx="4892040" cy="4389120"/>
          </a:xfrm>
          <a:prstGeom prst="rect">
            <a:avLst/>
          </a:prstGeom>
          <a:noFill/>
        </p:spPr>
        <p:txBody>
          <a:bodyPr wrap="square">
            <a:spAutoFit/>
          </a:bodyPr>
          <a:lstStyle/>
          <a:p>
            <a:pPr algn="l">
              <a:spcAft>
                <a:spcPts val="800"/>
              </a:spcAft>
            </a:pPr>
            <a:r>
              <a:rPr sz="1300" b="1" i="0">
                <a:solidFill>
                  <a:srgbClr val="D9A544"/>
                </a:solidFill>
                <a:latin typeface="Calibri"/>
              </a:rPr>
              <a:t>DISCIPLINE</a:t>
            </a:r>
          </a:p>
          <a:p>
            <a:pPr algn="l">
              <a:spcAft>
                <a:spcPts val="1600"/>
              </a:spcAft>
            </a:pPr>
            <a:r>
              <a:rPr sz="1800" b="0" i="1">
                <a:solidFill>
                  <a:srgbClr val="EFE6D3"/>
                </a:solidFill>
                <a:latin typeface="Georgia"/>
              </a:rPr>
              <a:t>Are midfielders booked more than defenders?</a:t>
            </a:r>
          </a:p>
          <a:p>
            <a:pPr algn="l">
              <a:spcAft>
                <a:spcPts val="400"/>
              </a:spcAft>
            </a:pPr>
            <a:r>
              <a:rPr sz="3200" b="1" i="0">
                <a:solidFill>
                  <a:srgbClr val="FFFFFF"/>
                </a:solidFill>
                <a:latin typeface="Georgia"/>
              </a:rPr>
              <a:t>0.10  vs  0.13</a:t>
            </a:r>
          </a:p>
          <a:p>
            <a:pPr algn="l">
              <a:spcAft>
                <a:spcPts val="1600"/>
              </a:spcAft>
            </a:pPr>
            <a:r>
              <a:rPr sz="1400" b="0" i="0">
                <a:solidFill>
                  <a:srgbClr val="B9B6AC"/>
                </a:solidFill>
                <a:latin typeface="Calibri"/>
              </a:rPr>
              <a:t>yellow cards per appearance</a:t>
            </a:r>
          </a:p>
          <a:p>
            <a:pPr algn="l">
              <a:spcAft>
                <a:spcPts val="1200"/>
              </a:spcAft>
            </a:pPr>
            <a:r>
              <a:rPr sz="1600" b="1" i="0">
                <a:solidFill>
                  <a:srgbClr val="D9A544"/>
                </a:solidFill>
                <a:latin typeface="Calibri"/>
              </a:rPr>
              <a:t>p = 0.45   ·   fail to reject H₀</a:t>
            </a:r>
          </a:p>
          <a:p>
            <a:pPr algn="l">
              <a:spcAft>
                <a:spcPts val="400"/>
              </a:spcAft>
            </a:pPr>
            <a:r>
              <a:rPr sz="1500" b="0" i="0">
                <a:solidFill>
                  <a:srgbClr val="B9B6AC"/>
                </a:solidFill>
                <a:latin typeface="Calibri"/>
              </a:rPr>
              <a:t>The “midfield battle” is not dirtier. Difference is sampling noise (Cohen’s d = −0.16).</a:t>
            </a:r>
          </a:p>
        </p:txBody>
      </p:sp>
      <p:sp>
        <p:nvSpPr>
          <p:cNvPr id="7" name="Rectangle 6"/>
          <p:cNvSpPr/>
          <p:nvPr/>
        </p:nvSpPr>
        <p:spPr>
          <a:xfrm>
            <a:off x="6217920" y="1417320"/>
            <a:ext cx="5349240" cy="4846320"/>
          </a:xfrm>
          <a:prstGeom prst="rect">
            <a:avLst/>
          </a:prstGeom>
          <a:solidFill>
            <a:srgbClr val="2440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46520" y="1645920"/>
            <a:ext cx="4892040" cy="4389120"/>
          </a:xfrm>
          <a:prstGeom prst="rect">
            <a:avLst/>
          </a:prstGeom>
          <a:noFill/>
        </p:spPr>
        <p:txBody>
          <a:bodyPr wrap="square">
            <a:spAutoFit/>
          </a:bodyPr>
          <a:lstStyle/>
          <a:p>
            <a:pPr algn="l">
              <a:spcAft>
                <a:spcPts val="800"/>
              </a:spcAft>
            </a:pPr>
            <a:r>
              <a:rPr sz="1300" b="1" i="0">
                <a:solidFill>
                  <a:srgbClr val="D9A544"/>
                </a:solidFill>
                <a:latin typeface="Calibri"/>
              </a:rPr>
              <a:t>ATTENDANCE</a:t>
            </a:r>
          </a:p>
          <a:p>
            <a:pPr algn="l">
              <a:spcAft>
                <a:spcPts val="1600"/>
              </a:spcAft>
            </a:pPr>
            <a:r>
              <a:rPr sz="1800" b="0" i="1">
                <a:solidFill>
                  <a:srgbClr val="EFE6D3"/>
                </a:solidFill>
                <a:latin typeface="Georgia"/>
              </a:rPr>
              <a:t>Did knockout games draw bigger crowds?</a:t>
            </a:r>
          </a:p>
          <a:p>
            <a:pPr algn="l">
              <a:spcAft>
                <a:spcPts val="400"/>
              </a:spcAft>
            </a:pPr>
            <a:r>
              <a:rPr sz="3200" b="1" i="0">
                <a:solidFill>
                  <a:srgbClr val="FFFFFF"/>
                </a:solidFill>
                <a:latin typeface="Georgia"/>
              </a:rPr>
              <a:t>67.7k  vs  65.7k</a:t>
            </a:r>
          </a:p>
          <a:p>
            <a:pPr algn="l">
              <a:spcAft>
                <a:spcPts val="1600"/>
              </a:spcAft>
            </a:pPr>
            <a:r>
              <a:rPr sz="1400" b="0" i="0">
                <a:solidFill>
                  <a:srgbClr val="B9B6AC"/>
                </a:solidFill>
                <a:latin typeface="Calibri"/>
              </a:rPr>
              <a:t>knockout vs group-stage mean</a:t>
            </a:r>
          </a:p>
          <a:p>
            <a:pPr algn="l">
              <a:spcAft>
                <a:spcPts val="1200"/>
              </a:spcAft>
            </a:pPr>
            <a:r>
              <a:rPr sz="1600" b="1" i="0">
                <a:solidFill>
                  <a:srgbClr val="D9A544"/>
                </a:solidFill>
                <a:latin typeface="Calibri"/>
              </a:rPr>
              <a:t>p = 0.38   ·   fail to reject H₀</a:t>
            </a:r>
          </a:p>
          <a:p>
            <a:pPr algn="l">
              <a:spcAft>
                <a:spcPts val="400"/>
              </a:spcAft>
            </a:pPr>
            <a:r>
              <a:rPr sz="1500" b="0" i="0">
                <a:solidFill>
                  <a:srgbClr val="B9B6AC"/>
                </a:solidFill>
                <a:latin typeface="Calibri"/>
              </a:rPr>
              <a:t>The 48-team format filled stadiums from match 1. Crowds did not wait for the knockouts.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EFE6D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9728"/>
          </a:xfrm>
          <a:prstGeom prst="rect">
            <a:avLst/>
          </a:prstGeom>
          <a:solidFill>
            <a:srgbClr val="171B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292608"/>
            <a:ext cx="10972800" cy="868680"/>
          </a:xfrm>
          <a:prstGeom prst="rect">
            <a:avLst/>
          </a:prstGeom>
          <a:noFill/>
        </p:spPr>
        <p:txBody>
          <a:bodyPr wrap="square">
            <a:spAutoFit/>
          </a:bodyPr>
          <a:lstStyle/>
          <a:p>
            <a:pPr algn="l">
              <a:spcAft>
                <a:spcPts val="200"/>
              </a:spcAft>
            </a:pPr>
            <a:r>
              <a:rPr sz="1300" b="1" i="0">
                <a:solidFill>
                  <a:srgbClr val="8C2F39"/>
                </a:solidFill>
                <a:latin typeface="Calibri"/>
              </a:rPr>
              <a:t>OBJECTIVE 1  ·  TWO CLEAR GAPS</a:t>
            </a:r>
          </a:p>
          <a:p>
            <a:pPr algn="l">
              <a:spcAft>
                <a:spcPts val="400"/>
              </a:spcAft>
            </a:pPr>
            <a:r>
              <a:rPr sz="2600" b="0" i="1">
                <a:solidFill>
                  <a:srgbClr val="171B22"/>
                </a:solidFill>
                <a:latin typeface="Georgia"/>
              </a:rPr>
              <a:t>Money and age did show up</a:t>
            </a:r>
          </a:p>
        </p:txBody>
      </p:sp>
      <p:sp>
        <p:nvSpPr>
          <p:cNvPr id="5" name="Rectangle 4"/>
          <p:cNvSpPr/>
          <p:nvPr/>
        </p:nvSpPr>
        <p:spPr>
          <a:xfrm>
            <a:off x="640080" y="1417320"/>
            <a:ext cx="5349240" cy="4846320"/>
          </a:xfrm>
          <a:prstGeom prst="rect">
            <a:avLst/>
          </a:prstGeom>
          <a:solidFill>
            <a:srgbClr val="8C2F3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1645920"/>
            <a:ext cx="4892040" cy="4389120"/>
          </a:xfrm>
          <a:prstGeom prst="rect">
            <a:avLst/>
          </a:prstGeom>
          <a:noFill/>
        </p:spPr>
        <p:txBody>
          <a:bodyPr wrap="square">
            <a:spAutoFit/>
          </a:bodyPr>
          <a:lstStyle/>
          <a:p>
            <a:pPr algn="l">
              <a:spcAft>
                <a:spcPts val="800"/>
              </a:spcAft>
            </a:pPr>
            <a:r>
              <a:rPr sz="1300" b="1" i="0">
                <a:solidFill>
                  <a:srgbClr val="D9A544"/>
                </a:solidFill>
                <a:latin typeface="Calibri"/>
              </a:rPr>
              <a:t>SQUAD VALUE</a:t>
            </a:r>
          </a:p>
          <a:p>
            <a:pPr algn="l">
              <a:spcAft>
                <a:spcPts val="1600"/>
              </a:spcAft>
            </a:pPr>
            <a:r>
              <a:rPr sz="1800" b="0" i="1">
                <a:solidFill>
                  <a:srgbClr val="EFE6D3"/>
                </a:solidFill>
                <a:latin typeface="Georgia"/>
              </a:rPr>
              <a:t>Are UEFA squads worth more?</a:t>
            </a:r>
          </a:p>
          <a:p>
            <a:pPr algn="l">
              <a:spcAft>
                <a:spcPts val="400"/>
              </a:spcAft>
            </a:pPr>
            <a:r>
              <a:rPr sz="4400" b="1" i="0">
                <a:solidFill>
                  <a:srgbClr val="FFFFFF"/>
                </a:solidFill>
                <a:latin typeface="Georgia"/>
              </a:rPr>
              <a:t>2.6×</a:t>
            </a:r>
          </a:p>
          <a:p>
            <a:pPr algn="l">
              <a:spcAft>
                <a:spcPts val="1600"/>
              </a:spcAft>
            </a:pPr>
            <a:r>
              <a:rPr sz="1400" b="0" i="0">
                <a:solidFill>
                  <a:srgbClr val="EFE6D3"/>
                </a:solidFill>
                <a:latin typeface="Calibri"/>
              </a:rPr>
              <a:t>€670m UEFA  vs  €257m rest of world</a:t>
            </a:r>
          </a:p>
          <a:p>
            <a:pPr algn="l">
              <a:spcAft>
                <a:spcPts val="1200"/>
              </a:spcAft>
            </a:pPr>
            <a:r>
              <a:rPr sz="1600" b="1" i="0">
                <a:solidFill>
                  <a:srgbClr val="D9A544"/>
                </a:solidFill>
                <a:latin typeface="Calibri"/>
              </a:rPr>
              <a:t>p = 0.004   ·   reject H₀   ·   d = 1.08</a:t>
            </a:r>
          </a:p>
          <a:p>
            <a:pPr algn="l">
              <a:spcAft>
                <a:spcPts val="400"/>
              </a:spcAft>
            </a:pPr>
            <a:r>
              <a:rPr sz="1500" b="0" i="0">
                <a:solidFill>
                  <a:srgbClr val="EFE6D3"/>
                </a:solidFill>
                <a:latin typeface="Calibri"/>
              </a:rPr>
              <a:t>Europe’s club market shows up in national-team valuations. Large effect.</a:t>
            </a:r>
          </a:p>
        </p:txBody>
      </p:sp>
      <p:sp>
        <p:nvSpPr>
          <p:cNvPr id="7" name="Rectangle 6"/>
          <p:cNvSpPr/>
          <p:nvPr/>
        </p:nvSpPr>
        <p:spPr>
          <a:xfrm>
            <a:off x="6217920" y="1417320"/>
            <a:ext cx="5349240" cy="4846320"/>
          </a:xfrm>
          <a:prstGeom prst="rect">
            <a:avLst/>
          </a:prstGeom>
          <a:solidFill>
            <a:srgbClr val="171B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46520" y="1645920"/>
            <a:ext cx="4892040" cy="4389120"/>
          </a:xfrm>
          <a:prstGeom prst="rect">
            <a:avLst/>
          </a:prstGeom>
          <a:noFill/>
        </p:spPr>
        <p:txBody>
          <a:bodyPr wrap="square">
            <a:spAutoFit/>
          </a:bodyPr>
          <a:lstStyle/>
          <a:p>
            <a:pPr algn="l">
              <a:spcAft>
                <a:spcPts val="800"/>
              </a:spcAft>
            </a:pPr>
            <a:r>
              <a:rPr sz="1300" b="1" i="0">
                <a:solidFill>
                  <a:srgbClr val="D9A544"/>
                </a:solidFill>
                <a:latin typeface="Calibri"/>
              </a:rPr>
              <a:t>GOALKEEPER AGE</a:t>
            </a:r>
          </a:p>
          <a:p>
            <a:pPr algn="l">
              <a:spcAft>
                <a:spcPts val="1600"/>
              </a:spcAft>
            </a:pPr>
            <a:r>
              <a:rPr sz="1800" b="0" i="1">
                <a:solidFill>
                  <a:srgbClr val="EFE6D3"/>
                </a:solidFill>
                <a:latin typeface="Georgia"/>
              </a:rPr>
              <a:t>Do keepers last past the outfield “prime” of 27?</a:t>
            </a:r>
          </a:p>
          <a:p>
            <a:pPr algn="l">
              <a:spcAft>
                <a:spcPts val="400"/>
              </a:spcAft>
            </a:pPr>
            <a:r>
              <a:rPr sz="4400" b="1" i="0">
                <a:solidFill>
                  <a:srgbClr val="FFFFFF"/>
                </a:solidFill>
                <a:latin typeface="Georgia"/>
              </a:rPr>
              <a:t>30.3 yrs</a:t>
            </a:r>
          </a:p>
          <a:p>
            <a:pPr algn="l">
              <a:spcAft>
                <a:spcPts val="1600"/>
              </a:spcAft>
            </a:pPr>
            <a:r>
              <a:rPr sz="1400" b="0" i="0">
                <a:solidFill>
                  <a:srgbClr val="B9B6AC"/>
                </a:solidFill>
                <a:latin typeface="Calibri"/>
              </a:rPr>
              <a:t>vs 27-year benchmark  ·  outfield mean 26.7</a:t>
            </a:r>
          </a:p>
          <a:p>
            <a:pPr algn="l">
              <a:spcAft>
                <a:spcPts val="1200"/>
              </a:spcAft>
            </a:pPr>
            <a:r>
              <a:rPr sz="1600" b="1" i="0">
                <a:solidFill>
                  <a:srgbClr val="D9A544"/>
                </a:solidFill>
                <a:latin typeface="Calibri"/>
              </a:rPr>
              <a:t>p = 0.0001   ·   reject H₀   ·   d = 0.67</a:t>
            </a:r>
          </a:p>
          <a:p>
            <a:pPr algn="l">
              <a:spcAft>
                <a:spcPts val="400"/>
              </a:spcAft>
            </a:pPr>
            <a:r>
              <a:rPr sz="1500" b="0" i="0">
                <a:solidFill>
                  <a:srgbClr val="B9B6AC"/>
                </a:solidFill>
                <a:latin typeface="Calibri"/>
              </a:rPr>
              <a:t>Keepers are ~3.6 years older than outfield teammates. Longer shelf life is real.</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EFE6D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9728"/>
          </a:xfrm>
          <a:prstGeom prst="rect">
            <a:avLst/>
          </a:prstGeom>
          <a:solidFill>
            <a:srgbClr val="171B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256032"/>
            <a:ext cx="10972800" cy="868680"/>
          </a:xfrm>
          <a:prstGeom prst="rect">
            <a:avLst/>
          </a:prstGeom>
          <a:noFill/>
        </p:spPr>
        <p:txBody>
          <a:bodyPr wrap="square">
            <a:spAutoFit/>
          </a:bodyPr>
          <a:lstStyle/>
          <a:p>
            <a:pPr algn="l">
              <a:spcAft>
                <a:spcPts val="200"/>
              </a:spcAft>
            </a:pPr>
            <a:r>
              <a:rPr sz="1300" b="1" i="0">
                <a:solidFill>
                  <a:srgbClr val="8C2F39"/>
                </a:solidFill>
                <a:latin typeface="Calibri"/>
              </a:rPr>
              <a:t>OBJECTIVE 2  ·  BEFORE KICKOFF</a:t>
            </a:r>
          </a:p>
          <a:p>
            <a:pPr algn="l">
              <a:spcAft>
                <a:spcPts val="400"/>
              </a:spcAft>
            </a:pPr>
            <a:r>
              <a:rPr sz="2600" b="0" i="1">
                <a:solidFill>
                  <a:srgbClr val="171B22"/>
                </a:solidFill>
                <a:latin typeface="Georgia"/>
              </a:rPr>
              <a:t>Rank and squad value predict the scoreline</a:t>
            </a:r>
          </a:p>
        </p:txBody>
      </p:sp>
      <p:sp>
        <p:nvSpPr>
          <p:cNvPr id="5" name="Rectangle 4"/>
          <p:cNvSpPr/>
          <p:nvPr/>
        </p:nvSpPr>
        <p:spPr>
          <a:xfrm>
            <a:off x="640080" y="1325880"/>
            <a:ext cx="5349240" cy="4983480"/>
          </a:xfrm>
          <a:prstGeom prst="rect">
            <a:avLst/>
          </a:prstGeom>
          <a:solidFill>
            <a:srgbClr val="171B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1508760"/>
            <a:ext cx="4892040" cy="4617720"/>
          </a:xfrm>
          <a:prstGeom prst="rect">
            <a:avLst/>
          </a:prstGeom>
          <a:noFill/>
        </p:spPr>
        <p:txBody>
          <a:bodyPr wrap="square">
            <a:spAutoFit/>
          </a:bodyPr>
          <a:lstStyle/>
          <a:p>
            <a:pPr algn="l">
              <a:spcAft>
                <a:spcPts val="800"/>
              </a:spcAft>
            </a:pPr>
            <a:r>
              <a:rPr sz="1300" b="1" i="0">
                <a:solidFill>
                  <a:srgbClr val="D9A544"/>
                </a:solidFill>
                <a:latin typeface="Calibri"/>
              </a:rPr>
              <a:t>MODEL 2.1  ·  104 MATCHES</a:t>
            </a:r>
          </a:p>
          <a:p>
            <a:pPr algn="l">
              <a:spcAft>
                <a:spcPts val="1200"/>
              </a:spcAft>
            </a:pPr>
            <a:r>
              <a:rPr sz="2200" b="0" i="1">
                <a:solidFill>
                  <a:srgbClr val="EFE6D3"/>
                </a:solidFill>
                <a:latin typeface="Georgia"/>
              </a:rPr>
              <a:t>Goal difference</a:t>
            </a:r>
          </a:p>
          <a:p>
            <a:pPr algn="l">
              <a:spcAft>
                <a:spcPts val="400"/>
              </a:spcAft>
            </a:pPr>
            <a:r>
              <a:rPr sz="3600" b="1" i="0">
                <a:solidFill>
                  <a:srgbClr val="FFFFFF"/>
                </a:solidFill>
                <a:latin typeface="Georgia"/>
              </a:rPr>
              <a:t>R² = 0.49</a:t>
            </a:r>
          </a:p>
          <a:p>
            <a:pPr algn="l">
              <a:spcAft>
                <a:spcPts val="1600"/>
              </a:spcAft>
            </a:pPr>
            <a:r>
              <a:rPr sz="1400" b="0" i="0">
                <a:solidFill>
                  <a:srgbClr val="B9B6AC"/>
                </a:solidFill>
                <a:latin typeface="Calibri"/>
              </a:rPr>
              <a:t>test R² 0.31   ·   RMSE 1.57 goals</a:t>
            </a:r>
          </a:p>
          <a:p>
            <a:pPr algn="l">
              <a:spcAft>
                <a:spcPts val="600"/>
              </a:spcAft>
            </a:pPr>
            <a:r>
              <a:rPr sz="1400" b="1" i="0">
                <a:solidFill>
                  <a:srgbClr val="D9A544"/>
                </a:solidFill>
                <a:latin typeface="Calibri"/>
              </a:rPr>
              <a:t>What mattered (p &lt; 0.05)</a:t>
            </a:r>
          </a:p>
          <a:p>
            <a:pPr algn="l">
              <a:spcAft>
                <a:spcPts val="1200"/>
              </a:spcAft>
            </a:pPr>
            <a:r>
              <a:rPr sz="1600" b="0" i="0">
                <a:solidFill>
                  <a:srgbClr val="EFE6D3"/>
                </a:solidFill>
                <a:latin typeface="Calibri"/>
              </a:rPr>
              <a:t>FIFA rank gap  ·  squad-value gap</a:t>
            </a:r>
          </a:p>
          <a:p>
            <a:pPr algn="l">
              <a:spcAft>
                <a:spcPts val="400"/>
              </a:spcAft>
            </a:pPr>
            <a:r>
              <a:rPr sz="1400" b="0" i="0">
                <a:solidFill>
                  <a:srgbClr val="B9B6AC"/>
                </a:solidFill>
                <a:latin typeface="Calibri"/>
              </a:rPr>
              <a:t>Host, rest, age, prior titles: not significant once rank and money are in the model.</a:t>
            </a:r>
          </a:p>
        </p:txBody>
      </p:sp>
      <p:sp>
        <p:nvSpPr>
          <p:cNvPr id="7" name="Rectangle 6"/>
          <p:cNvSpPr/>
          <p:nvPr/>
        </p:nvSpPr>
        <p:spPr>
          <a:xfrm>
            <a:off x="6217920" y="1325880"/>
            <a:ext cx="5349240" cy="4983480"/>
          </a:xfrm>
          <a:prstGeom prst="rect">
            <a:avLst/>
          </a:prstGeom>
          <a:solidFill>
            <a:srgbClr val="2440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46520" y="1508760"/>
            <a:ext cx="4892040" cy="4617720"/>
          </a:xfrm>
          <a:prstGeom prst="rect">
            <a:avLst/>
          </a:prstGeom>
          <a:noFill/>
        </p:spPr>
        <p:txBody>
          <a:bodyPr wrap="square">
            <a:spAutoFit/>
          </a:bodyPr>
          <a:lstStyle/>
          <a:p>
            <a:pPr algn="l">
              <a:spcAft>
                <a:spcPts val="800"/>
              </a:spcAft>
            </a:pPr>
            <a:r>
              <a:rPr sz="1300" b="1" i="0">
                <a:solidFill>
                  <a:srgbClr val="D9A544"/>
                </a:solidFill>
                <a:latin typeface="Calibri"/>
              </a:rPr>
              <a:t>MODEL 2.2  ·  208 TEAM-MATCHES</a:t>
            </a:r>
          </a:p>
          <a:p>
            <a:pPr algn="l">
              <a:spcAft>
                <a:spcPts val="1200"/>
              </a:spcAft>
            </a:pPr>
            <a:r>
              <a:rPr sz="2200" b="0" i="1">
                <a:solidFill>
                  <a:srgbClr val="EFE6D3"/>
                </a:solidFill>
                <a:latin typeface="Georgia"/>
              </a:rPr>
              <a:t>Goals scored by a team</a:t>
            </a:r>
          </a:p>
          <a:p>
            <a:pPr algn="l">
              <a:spcAft>
                <a:spcPts val="400"/>
              </a:spcAft>
            </a:pPr>
            <a:r>
              <a:rPr sz="3600" b="1" i="0">
                <a:solidFill>
                  <a:srgbClr val="FFFFFF"/>
                </a:solidFill>
                <a:latin typeface="Georgia"/>
              </a:rPr>
              <a:t>R² = 0.29</a:t>
            </a:r>
          </a:p>
          <a:p>
            <a:pPr algn="l">
              <a:spcAft>
                <a:spcPts val="1600"/>
              </a:spcAft>
            </a:pPr>
            <a:r>
              <a:rPr sz="1400" b="0" i="0">
                <a:solidFill>
                  <a:srgbClr val="B9B6AC"/>
                </a:solidFill>
                <a:latin typeface="Calibri"/>
              </a:rPr>
              <a:t>test R² 0.22   ·   RMSE 1.23 goals</a:t>
            </a:r>
          </a:p>
          <a:p>
            <a:pPr algn="l">
              <a:spcAft>
                <a:spcPts val="600"/>
              </a:spcAft>
            </a:pPr>
            <a:r>
              <a:rPr sz="1400" b="1" i="0">
                <a:solidFill>
                  <a:srgbClr val="D9A544"/>
                </a:solidFill>
                <a:latin typeface="Calibri"/>
              </a:rPr>
              <a:t>What mattered (p &lt; 0.05)</a:t>
            </a:r>
          </a:p>
          <a:p>
            <a:pPr algn="l">
              <a:spcAft>
                <a:spcPts val="1200"/>
              </a:spcAft>
            </a:pPr>
            <a:r>
              <a:rPr sz="1600" b="0" i="0">
                <a:solidFill>
                  <a:srgbClr val="EFE6D3"/>
                </a:solidFill>
                <a:latin typeface="Calibri"/>
              </a:rPr>
              <a:t>Opponent’s rank  ·  own squad value</a:t>
            </a:r>
          </a:p>
          <a:p>
            <a:pPr algn="l">
              <a:spcAft>
                <a:spcPts val="400"/>
              </a:spcAft>
            </a:pPr>
            <a:r>
              <a:rPr sz="1400" b="0" i="0">
                <a:solidFill>
                  <a:srgbClr val="B9B6AC"/>
                </a:solidFill>
                <a:latin typeface="Calibri"/>
              </a:rPr>
              <a:t>Noisier target — one team’s goal tally is harder than the relative difference.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71B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601968"/>
            <a:ext cx="12191695" cy="256032"/>
          </a:xfrm>
          <a:prstGeom prst="rect">
            <a:avLst/>
          </a:prstGeom>
          <a:solidFill>
            <a:srgbClr val="8C2F3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6601968"/>
            <a:ext cx="3108960" cy="256032"/>
          </a:xfrm>
          <a:prstGeom prst="rect">
            <a:avLst/>
          </a:prstGeom>
          <a:solidFill>
            <a:srgbClr val="D9A5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502920"/>
            <a:ext cx="10607040" cy="822960"/>
          </a:xfrm>
          <a:prstGeom prst="rect">
            <a:avLst/>
          </a:prstGeom>
          <a:noFill/>
        </p:spPr>
        <p:txBody>
          <a:bodyPr wrap="square">
            <a:spAutoFit/>
          </a:bodyPr>
          <a:lstStyle/>
          <a:p>
            <a:pPr algn="l">
              <a:spcAft>
                <a:spcPts val="400"/>
              </a:spcAft>
            </a:pPr>
            <a:r>
              <a:rPr sz="1300" b="1" i="0">
                <a:solidFill>
                  <a:srgbClr val="D9A544"/>
                </a:solidFill>
                <a:latin typeface="Calibri"/>
              </a:rPr>
              <a:t>IF YOU REMEMBER THREE THINGS</a:t>
            </a:r>
          </a:p>
          <a:p>
            <a:pPr algn="l">
              <a:spcAft>
                <a:spcPts val="400"/>
              </a:spcAft>
            </a:pPr>
            <a:r>
              <a:rPr sz="3200" b="0" i="1">
                <a:solidFill>
                  <a:srgbClr val="EFE6D3"/>
                </a:solidFill>
                <a:latin typeface="Georgia"/>
              </a:rPr>
              <a:t>Walk-away points</a:t>
            </a:r>
          </a:p>
        </p:txBody>
      </p:sp>
      <p:sp>
        <p:nvSpPr>
          <p:cNvPr id="6" name="Rectangle 5"/>
          <p:cNvSpPr/>
          <p:nvPr/>
        </p:nvSpPr>
        <p:spPr>
          <a:xfrm>
            <a:off x="777240" y="1554480"/>
            <a:ext cx="640080" cy="640080"/>
          </a:xfrm>
          <a:prstGeom prst="rect">
            <a:avLst/>
          </a:prstGeom>
          <a:solidFill>
            <a:srgbClr val="D9A5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664208"/>
            <a:ext cx="640080" cy="457200"/>
          </a:xfrm>
          <a:prstGeom prst="rect">
            <a:avLst/>
          </a:prstGeom>
          <a:noFill/>
        </p:spPr>
        <p:txBody>
          <a:bodyPr wrap="square">
            <a:spAutoFit/>
          </a:bodyPr>
          <a:lstStyle/>
          <a:p>
            <a:pPr algn="ctr">
              <a:spcAft>
                <a:spcPts val="400"/>
              </a:spcAft>
            </a:pPr>
            <a:r>
              <a:rPr sz="2200" b="1" i="0">
                <a:solidFill>
                  <a:srgbClr val="171B22"/>
                </a:solidFill>
                <a:latin typeface="Georgia"/>
              </a:rPr>
              <a:t>1</a:t>
            </a:r>
          </a:p>
        </p:txBody>
      </p:sp>
      <p:sp>
        <p:nvSpPr>
          <p:cNvPr id="8" name="TextBox 7"/>
          <p:cNvSpPr txBox="1"/>
          <p:nvPr/>
        </p:nvSpPr>
        <p:spPr>
          <a:xfrm>
            <a:off x="1645920" y="1554480"/>
            <a:ext cx="9601200" cy="1234440"/>
          </a:xfrm>
          <a:prstGeom prst="rect">
            <a:avLst/>
          </a:prstGeom>
          <a:noFill/>
        </p:spPr>
        <p:txBody>
          <a:bodyPr wrap="square">
            <a:spAutoFit/>
          </a:bodyPr>
          <a:lstStyle/>
          <a:p>
            <a:pPr algn="l">
              <a:spcAft>
                <a:spcPts val="400"/>
              </a:spcAft>
            </a:pPr>
            <a:r>
              <a:rPr sz="2200" b="1" i="0">
                <a:solidFill>
                  <a:srgbClr val="EFE6D3"/>
                </a:solidFill>
                <a:latin typeface="Georgia"/>
              </a:rPr>
              <a:t>Crowds did not wait for knockouts.</a:t>
            </a:r>
          </a:p>
          <a:p>
            <a:pPr algn="l">
              <a:spcAft>
                <a:spcPts val="400"/>
              </a:spcAft>
            </a:pPr>
            <a:r>
              <a:rPr sz="1600" b="0" i="0">
                <a:solidFill>
                  <a:srgbClr val="B9B6AC"/>
                </a:solidFill>
                <a:latin typeface="Calibri"/>
              </a:rPr>
              <a:t>Group and knockout attendance were statistically the same.</a:t>
            </a:r>
          </a:p>
        </p:txBody>
      </p:sp>
      <p:sp>
        <p:nvSpPr>
          <p:cNvPr id="9" name="Rectangle 8"/>
          <p:cNvSpPr/>
          <p:nvPr/>
        </p:nvSpPr>
        <p:spPr>
          <a:xfrm>
            <a:off x="777240" y="2971800"/>
            <a:ext cx="640080" cy="640080"/>
          </a:xfrm>
          <a:prstGeom prst="rect">
            <a:avLst/>
          </a:prstGeom>
          <a:solidFill>
            <a:srgbClr val="D9A5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77240" y="3081528"/>
            <a:ext cx="640080" cy="457200"/>
          </a:xfrm>
          <a:prstGeom prst="rect">
            <a:avLst/>
          </a:prstGeom>
          <a:noFill/>
        </p:spPr>
        <p:txBody>
          <a:bodyPr wrap="square">
            <a:spAutoFit/>
          </a:bodyPr>
          <a:lstStyle/>
          <a:p>
            <a:pPr algn="ctr">
              <a:spcAft>
                <a:spcPts val="400"/>
              </a:spcAft>
            </a:pPr>
            <a:r>
              <a:rPr sz="2200" b="1" i="0">
                <a:solidFill>
                  <a:srgbClr val="171B22"/>
                </a:solidFill>
                <a:latin typeface="Georgia"/>
              </a:rPr>
              <a:t>2</a:t>
            </a:r>
          </a:p>
        </p:txBody>
      </p:sp>
      <p:sp>
        <p:nvSpPr>
          <p:cNvPr id="11" name="TextBox 10"/>
          <p:cNvSpPr txBox="1"/>
          <p:nvPr/>
        </p:nvSpPr>
        <p:spPr>
          <a:xfrm>
            <a:off x="1645920" y="2971800"/>
            <a:ext cx="9601200" cy="1234440"/>
          </a:xfrm>
          <a:prstGeom prst="rect">
            <a:avLst/>
          </a:prstGeom>
          <a:noFill/>
        </p:spPr>
        <p:txBody>
          <a:bodyPr wrap="square">
            <a:spAutoFit/>
          </a:bodyPr>
          <a:lstStyle/>
          <a:p>
            <a:pPr algn="l">
              <a:spcAft>
                <a:spcPts val="400"/>
              </a:spcAft>
            </a:pPr>
            <a:r>
              <a:rPr sz="2200" b="1" i="0">
                <a:solidFill>
                  <a:srgbClr val="EFE6D3"/>
                </a:solidFill>
                <a:latin typeface="Georgia"/>
              </a:rPr>
              <a:t>Europe’s money is a real gap.</a:t>
            </a:r>
          </a:p>
          <a:p>
            <a:pPr algn="l">
              <a:spcAft>
                <a:spcPts val="400"/>
              </a:spcAft>
            </a:pPr>
            <a:r>
              <a:rPr sz="1600" b="0" i="0">
                <a:solidFill>
                  <a:srgbClr val="B9B6AC"/>
                </a:solidFill>
                <a:latin typeface="Calibri"/>
              </a:rPr>
              <a:t>UEFA squads ~2.6× the market value of the rest.</a:t>
            </a:r>
          </a:p>
        </p:txBody>
      </p:sp>
      <p:sp>
        <p:nvSpPr>
          <p:cNvPr id="12" name="Rectangle 11"/>
          <p:cNvSpPr/>
          <p:nvPr/>
        </p:nvSpPr>
        <p:spPr>
          <a:xfrm>
            <a:off x="777240" y="4389120"/>
            <a:ext cx="640080" cy="640080"/>
          </a:xfrm>
          <a:prstGeom prst="rect">
            <a:avLst/>
          </a:prstGeom>
          <a:solidFill>
            <a:srgbClr val="D9A5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77240" y="4498848"/>
            <a:ext cx="640080" cy="457200"/>
          </a:xfrm>
          <a:prstGeom prst="rect">
            <a:avLst/>
          </a:prstGeom>
          <a:noFill/>
        </p:spPr>
        <p:txBody>
          <a:bodyPr wrap="square">
            <a:spAutoFit/>
          </a:bodyPr>
          <a:lstStyle/>
          <a:p>
            <a:pPr algn="ctr">
              <a:spcAft>
                <a:spcPts val="400"/>
              </a:spcAft>
            </a:pPr>
            <a:r>
              <a:rPr sz="2200" b="1" i="0">
                <a:solidFill>
                  <a:srgbClr val="171B22"/>
                </a:solidFill>
                <a:latin typeface="Georgia"/>
              </a:rPr>
              <a:t>3</a:t>
            </a:r>
          </a:p>
        </p:txBody>
      </p:sp>
      <p:sp>
        <p:nvSpPr>
          <p:cNvPr id="14" name="TextBox 13"/>
          <p:cNvSpPr txBox="1"/>
          <p:nvPr/>
        </p:nvSpPr>
        <p:spPr>
          <a:xfrm>
            <a:off x="1645920" y="4389120"/>
            <a:ext cx="9601200" cy="1234440"/>
          </a:xfrm>
          <a:prstGeom prst="rect">
            <a:avLst/>
          </a:prstGeom>
          <a:noFill/>
        </p:spPr>
        <p:txBody>
          <a:bodyPr wrap="square">
            <a:spAutoFit/>
          </a:bodyPr>
          <a:lstStyle/>
          <a:p>
            <a:pPr algn="l">
              <a:spcAft>
                <a:spcPts val="400"/>
              </a:spcAft>
            </a:pPr>
            <a:r>
              <a:rPr sz="2200" b="1" i="0">
                <a:solidFill>
                  <a:srgbClr val="EFE6D3"/>
                </a:solidFill>
                <a:latin typeface="Georgia"/>
              </a:rPr>
              <a:t>Rank and value beat folklore.</a:t>
            </a:r>
          </a:p>
          <a:p>
            <a:pPr algn="l">
              <a:spcAft>
                <a:spcPts val="400"/>
              </a:spcAft>
            </a:pPr>
            <a:r>
              <a:rPr sz="1600" b="0" i="0">
                <a:solidFill>
                  <a:srgbClr val="B9B6AC"/>
                </a:solidFill>
                <a:latin typeface="Calibri"/>
              </a:rPr>
              <a:t>They predict goal difference. Host, rest, and age do not.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