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HIT 140 Assignment 2: World Cup 2026 analytics. Spain won the first 48-team tournament, 1–0 after extra time over Argentina. We analysed 104 matches, 48 national teams, and 1,016 players who featured. There are four inferential tasks and two pre-match linear models, all at alpha 0.05.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data sits in three tables: matches, teams, and players. Player goals plus own goals reconcile to the official 308-goal total, and 15 red cards match FIFA. Each Objective 1 task follows the same six skills: question, wrangle, sample, describe, a 95 percent CI, and a t-test. Objective 2 predicts outcomes using only information knowable before kickoff — ranking, squad value, age, titles, host, rest, confederation, and knockout. No shots, no possession, no in-match events.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questions came back non-significant. First: do midfielders pick up more yellows per appearance than defenders? In samples of 45, the means were 0.098 versus 0.131. p equals 0.45, Cohen’s d is tiny. We fail to reject. Second: do knockout crowds beat group-stage crowds? About two thousand extra fans, but p is 0.38. The expanded format drew large, comparable crowds throughout.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questions were significant. UEFA squads averaged 670 million euros against 257 million for everyone else — about 2.6 times as valuable. The one-sided t-test gives p of 0.004 and a large effect, d of 1.08. We reject. Goalkeepers averaged 30.3 years — well above the outfield prime of 27. The one-sample p is 0.0001, and they were also 3.6 years older than outfield teammates.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Objective 2. Model 2.1 predicts match goal difference. Training R-squared is 0.49; on the hold-out it is 0.31. Only FIFA ranking gap and squad-value gap are significant. A billion-euro value edge is about plus 1.7 net goals. Model 2.2 predicts a team’s own goals. Fit is weaker, as expected for a noisy count: test R-squared 0.22. Significant drivers are opponent rank and own squad value. Residuals are slightly skewed, so a Poisson model would be a natural next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So: the midfield-booking story and the knockout-crowd premium are not in this data. Europe’s market-value gap is large, and keepers really do last longer. Before kickoff, ranking and squad value are the robust predictors.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146304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9A5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D9A544"/>
                </a:solidFill>
                <a:latin typeface="Calibri"/>
              </a:rPr>
              <a:t>HIT140  ·  Foundation of Data Science  ·  Assignment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0" i="1">
                <a:solidFill>
                  <a:srgbClr val="EFE6D3"/>
                </a:solidFill>
                <a:latin typeface="Georgia"/>
              </a:rPr>
              <a:t>World Cup  2026</a:t>
            </a:r>
          </a:p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B9B6AC"/>
                </a:solidFill>
                <a:latin typeface="Calibri"/>
              </a:rPr>
              <a:t>Statistical analysis  &amp;  linear regression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803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B9B6AC"/>
                </a:solidFill>
                <a:latin typeface="Calibri"/>
              </a:rPr>
              <a:t>Four inferential tasks and two pre-match linear models on the first 48-team tournament — won by Spain, 1–0 after extra time over Argentina, 19 July 2026 at MetLife Stadium.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B9B6AC"/>
                </a:solidFill>
                <a:latin typeface="Calibri"/>
              </a:rPr>
              <a:t>MATCHES</a:t>
            </a:r>
          </a:p>
          <a:p>
            <a:pPr algn="l">
              <a:spcAft>
                <a:spcPts val="0"/>
              </a:spcAft>
            </a:pPr>
            <a:r>
              <a:rPr sz="3200" b="0" i="0">
                <a:solidFill>
                  <a:srgbClr val="D9A544"/>
                </a:solidFill>
                <a:latin typeface="Georgia"/>
              </a:rPr>
              <a:t>104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0128" y="4160520"/>
            <a:ext cx="13716" cy="1234440"/>
          </a:xfrm>
          <a:prstGeom prst="rect">
            <a:avLst/>
          </a:prstGeom>
          <a:solidFill>
            <a:srgbClr val="3A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411480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B9B6AC"/>
                </a:solidFill>
                <a:latin typeface="Calibri"/>
              </a:rPr>
              <a:t>NATIONAL TEAMS</a:t>
            </a:r>
          </a:p>
          <a:p>
            <a:pPr algn="l">
              <a:spcAft>
                <a:spcPts val="0"/>
              </a:spcAft>
            </a:pPr>
            <a:r>
              <a:rPr sz="3200" b="0" i="0">
                <a:solidFill>
                  <a:srgbClr val="D9A544"/>
                </a:solidFill>
                <a:latin typeface="Georgia"/>
              </a:rPr>
              <a:t>48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44768" y="4160520"/>
            <a:ext cx="13716" cy="1234440"/>
          </a:xfrm>
          <a:prstGeom prst="rect">
            <a:avLst/>
          </a:prstGeom>
          <a:solidFill>
            <a:srgbClr val="3A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411480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B9B6AC"/>
                </a:solidFill>
                <a:latin typeface="Calibri"/>
              </a:rPr>
              <a:t>PLAYERS WHO FEATURED</a:t>
            </a:r>
          </a:p>
          <a:p>
            <a:pPr algn="l">
              <a:spcAft>
                <a:spcPts val="0"/>
              </a:spcAft>
            </a:pPr>
            <a:r>
              <a:rPr sz="3200" b="0" i="0">
                <a:solidFill>
                  <a:srgbClr val="D9A544"/>
                </a:solidFill>
                <a:latin typeface="Georgia"/>
              </a:rPr>
              <a:t>1,016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79408" y="4160520"/>
            <a:ext cx="13716" cy="1234440"/>
          </a:xfrm>
          <a:prstGeom prst="rect">
            <a:avLst/>
          </a:prstGeom>
          <a:solidFill>
            <a:srgbClr val="3A4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411480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B9B6AC"/>
                </a:solidFill>
                <a:latin typeface="Calibri"/>
              </a:rPr>
              <a:t>CHAMPION</a:t>
            </a:r>
          </a:p>
          <a:p>
            <a:pPr algn="l">
              <a:spcAft>
                <a:spcPts val="0"/>
              </a:spcAft>
            </a:pPr>
            <a:r>
              <a:rPr sz="3200" b="0" i="0">
                <a:solidFill>
                  <a:srgbClr val="D9A544"/>
                </a:solidFill>
                <a:latin typeface="Georgia"/>
              </a:rPr>
              <a:t>Spain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7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1">
                <a:solidFill>
                  <a:srgbClr val="EFE6D3"/>
                </a:solidFill>
                <a:latin typeface="Georgia"/>
              </a:rPr>
              <a:t>How the dataset was compiled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84F44"/>
                </a:solidFill>
                <a:latin typeface="Calibri"/>
              </a:rPr>
              <a:t>Three independently compiled tables. Own goals and red-card totals reconcile with official FIFA figures.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00200"/>
          <a:ext cx="1097280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1005840"/>
                <a:gridCol w="4937760"/>
              </a:tblGrid>
              <a:tr h="46862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FE6D3"/>
                          </a:solidFill>
                          <a:latin typeface="Calibri"/>
                        </a:defRPr>
                      </a:pPr>
                      <a:r>
                        <a:t>Table</a:t>
                      </a:r>
                    </a:p>
                  </a:txBody>
                  <a:tcPr>
                    <a:solidFill>
                      <a:srgbClr val="17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FE6D3"/>
                          </a:solidFill>
                          <a:latin typeface="Calibri"/>
                        </a:defRPr>
                      </a:pPr>
                      <a:r>
                        <a:t>Grain</a:t>
                      </a:r>
                    </a:p>
                  </a:txBody>
                  <a:tcPr>
                    <a:solidFill>
                      <a:srgbClr val="17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FE6D3"/>
                          </a:solidFill>
                          <a:latin typeface="Calibri"/>
                        </a:defRPr>
                      </a:pPr>
                      <a:r>
                        <a:t>Rows</a:t>
                      </a:r>
                    </a:p>
                  </a:txBody>
                  <a:tcPr>
                    <a:solidFill>
                      <a:srgbClr val="17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FE6D3"/>
                          </a:solidFill>
                          <a:latin typeface="Calibri"/>
                        </a:defRPr>
                      </a:pPr>
                      <a:r>
                        <a:t>Primary sources</a:t>
                      </a:r>
                    </a:p>
                  </a:txBody>
                  <a:tcPr>
                    <a:solidFill>
                      <a:srgbClr val="171B22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71B22"/>
                          </a:solidFill>
                          <a:latin typeface="Calibri"/>
                        </a:defRPr>
                      </a:pPr>
                      <a:r>
                        <a:t>matches_raw.csv</a:t>
                      </a:r>
                    </a:p>
                  </a:txBody>
                  <a:tcPr>
                    <a:solidFill>
                      <a:srgbClr val="EFE6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71B22"/>
                          </a:solidFill>
                          <a:latin typeface="Calibri"/>
                        </a:defRPr>
                      </a:pPr>
                      <a:r>
                        <a:t>one official match</a:t>
                      </a:r>
                    </a:p>
                  </a:txBody>
                  <a:tcPr>
                    <a:solidFill>
                      <a:srgbClr val="EFE6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71B22"/>
                          </a:solidFill>
                          <a:latin typeface="Calibri"/>
                        </a:defRPr>
                      </a:pPr>
                      <a:r>
                        <a:t>104</a:t>
                      </a:r>
                    </a:p>
                  </a:txBody>
                  <a:tcPr>
                    <a:solidFill>
                      <a:srgbClr val="EFE6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71B22"/>
                          </a:solidFill>
                          <a:latin typeface="Calibri"/>
                        </a:defRPr>
                      </a:pPr>
                      <a:r>
                        <a:t>FIFA match centre, Wikipedia, worldcup.org.uk</a:t>
                      </a:r>
                    </a:p>
                  </a:txBody>
                  <a:tcPr>
                    <a:solidFill>
                      <a:srgbClr val="EFE6D3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71B22"/>
                          </a:solidFill>
                          <a:latin typeface="Calibri"/>
                        </a:defRPr>
                      </a:pPr>
                      <a:r>
                        <a:t>teams_raw.csv</a:t>
                      </a:r>
                    </a:p>
                  </a:txBody>
                  <a:tcPr>
                    <a:solidFill>
                      <a:srgbClr val="E7DCC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71B22"/>
                          </a:solidFill>
                          <a:latin typeface="Calibri"/>
                        </a:defRPr>
                      </a:pPr>
                      <a:r>
                        <a:t>one national team</a:t>
                      </a:r>
                    </a:p>
                  </a:txBody>
                  <a:tcPr>
                    <a:solidFill>
                      <a:srgbClr val="E7DCC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71B22"/>
                          </a:solidFill>
                          <a:latin typeface="Calibri"/>
                        </a:defRPr>
                      </a:pPr>
                      <a:r>
                        <a:t>48</a:t>
                      </a:r>
                    </a:p>
                  </a:txBody>
                  <a:tcPr>
                    <a:solidFill>
                      <a:srgbClr val="E7DCC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71B22"/>
                          </a:solidFill>
                          <a:latin typeface="Calibri"/>
                        </a:defRPr>
                      </a:pPr>
                      <a:r>
                        <a:t>FIFA ranking 11 June 2026, Transfermarkt, Wikipedia</a:t>
                      </a:r>
                    </a:p>
                  </a:txBody>
                  <a:tcPr>
                    <a:solidFill>
                      <a:srgbClr val="E7DCC2"/>
                    </a:solidFill>
                  </a:tcPr>
                </a:tc>
              </a:tr>
              <a:tr h="46863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71B22"/>
                          </a:solidFill>
                          <a:latin typeface="Calibri"/>
                        </a:defRPr>
                      </a:pPr>
                      <a:r>
                        <a:t>players_raw.csv</a:t>
                      </a:r>
                    </a:p>
                  </a:txBody>
                  <a:tcPr>
                    <a:solidFill>
                      <a:srgbClr val="EFE6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71B22"/>
                          </a:solidFill>
                          <a:latin typeface="Calibri"/>
                        </a:defRPr>
                      </a:pPr>
                      <a:r>
                        <a:t>players with ≥1 appearance</a:t>
                      </a:r>
                    </a:p>
                  </a:txBody>
                  <a:tcPr>
                    <a:solidFill>
                      <a:srgbClr val="EFE6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71B22"/>
                          </a:solidFill>
                          <a:latin typeface="Calibri"/>
                        </a:defRPr>
                      </a:pPr>
                      <a:r>
                        <a:t>1,016</a:t>
                      </a:r>
                    </a:p>
                  </a:txBody>
                  <a:tcPr>
                    <a:solidFill>
                      <a:srgbClr val="EFE6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71B22"/>
                          </a:solidFill>
                          <a:latin typeface="Calibri"/>
                        </a:defRPr>
                      </a:pPr>
                      <a:r>
                        <a:t>Wikipedia squads, FotMob leaderboards</a:t>
                      </a:r>
                    </a:p>
                  </a:txBody>
                  <a:tcPr>
                    <a:solidFill>
                      <a:srgbClr val="EFE6D3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36118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84F44"/>
                </a:solidFill>
                <a:latin typeface="Calibri"/>
              </a:rPr>
              <a:t>All 104 attendances are official. Player goals (294) + 14 own goals = 308 tournament goals. Red cards (15) match the official count.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4114800"/>
            <a:ext cx="544068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C9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4114800"/>
            <a:ext cx="544068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C9B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4251960"/>
            <a:ext cx="5074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8C2F39"/>
                </a:solidFill>
                <a:latin typeface="Calibri"/>
              </a:rPr>
              <a:t>OBJECTIVE 1  ·  FOUR TASKS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71B22"/>
                </a:solidFill>
                <a:latin typeface="Calibri"/>
              </a:rPr>
              <a:t>Each task uses a distinct question and the same six skills: formulate, wrangle, sample, describe, 95% CI, t-test at α = 0.05.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84F44"/>
                </a:solidFill>
                <a:latin typeface="Calibri"/>
              </a:rPr>
              <a:t>Samples are drawn on purpose (seed 42) so the two groups stay balanced — not because the population is unknown.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4251960"/>
            <a:ext cx="5074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8C2F39"/>
                </a:solidFill>
                <a:latin typeface="Calibri"/>
              </a:rPr>
              <a:t>OBJECTIVE 2  ·  TWO REGRESSIONS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71B22"/>
                </a:solidFill>
                <a:latin typeface="Calibri"/>
              </a:rPr>
              <a:t>Exactly eight pre-match predictors. No shots, possession, or in-match events. 20% hold-out, VIF check, Shapiro–Wilk on residuals.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4402C"/>
                </a:solidFill>
                <a:latin typeface="Calibri"/>
              </a:rPr>
              <a:t>2.1  goal difference  (n = 104)     2.2  team goals  (n = 208)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7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 i="1">
                <a:solidFill>
                  <a:srgbClr val="EFE6D3"/>
                </a:solidFill>
                <a:latin typeface="Georgia"/>
              </a:rPr>
              <a:t>Objective 1  ·  two questions the data does not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24128"/>
            <a:ext cx="5715000" cy="5577840"/>
          </a:xfrm>
          <a:prstGeom prst="rect">
            <a:avLst/>
          </a:prstGeom>
          <a:solidFill>
            <a:srgbClr val="E7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5394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8C2F39"/>
                </a:solidFill>
                <a:latin typeface="Calibri"/>
              </a:rPr>
              <a:t>TASK 1  ·  PLAYER DISCIPLINE</a:t>
            </a:r>
          </a:p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171B22"/>
                </a:solidFill>
                <a:latin typeface="Georgia"/>
              </a:rPr>
              <a:t>Do midfielders pick up more yellow cards per appearance than defenders?</a:t>
            </a:r>
          </a:p>
        </p:txBody>
      </p:sp>
      <p:pic>
        <p:nvPicPr>
          <p:cNvPr id="7" name="Picture 6" descr="task1_c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12848"/>
            <a:ext cx="5349240" cy="320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892040"/>
            <a:ext cx="5394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71B22"/>
                </a:solidFill>
                <a:latin typeface="Calibri"/>
              </a:rPr>
              <a:t>n = 45 vs 45   ·   means 0.098 vs 0.131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584F44"/>
                </a:solidFill>
                <a:latin typeface="Calibri"/>
              </a:rPr>
              <a:t>t(88) = −0.76   ·   p = 0.4485   ·   d = −0.16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E2129"/>
                </a:solidFill>
                <a:latin typeface="Calibri"/>
              </a:rPr>
              <a:t>Fail to reject H₀. The “midfield battle” booking narrative is not supported.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024128"/>
            <a:ext cx="5715000" cy="5577840"/>
          </a:xfrm>
          <a:prstGeom prst="rect">
            <a:avLst/>
          </a:prstGeom>
          <a:solidFill>
            <a:srgbClr val="E7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115568"/>
            <a:ext cx="5394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8C2F39"/>
                </a:solidFill>
                <a:latin typeface="Calibri"/>
              </a:rPr>
              <a:t>TASK 2  ·  MATCH-DAY ATTENDANCE</a:t>
            </a:r>
          </a:p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171B22"/>
                </a:solidFill>
                <a:latin typeface="Georgia"/>
              </a:rPr>
              <a:t>Is average attendance different between knockout and group-stage matches?</a:t>
            </a:r>
          </a:p>
        </p:txBody>
      </p:sp>
      <p:pic>
        <p:nvPicPr>
          <p:cNvPr id="11" name="Picture 10" descr="task2_attend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212848"/>
            <a:ext cx="5349240" cy="3200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55080" y="4892040"/>
            <a:ext cx="5394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71B22"/>
                </a:solidFill>
                <a:latin typeface="Calibri"/>
              </a:rPr>
              <a:t>n = 32 vs 32   ·   means 65,747 vs 67,701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584F44"/>
                </a:solidFill>
                <a:latin typeface="Calibri"/>
              </a:rPr>
              <a:t>t(62) = 0.88   ·   p = 0.3801   ·   d = 0.22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E2129"/>
                </a:solidFill>
                <a:latin typeface="Calibri"/>
              </a:rPr>
              <a:t>Fail to reject H₀. The extra ~2,000 fans is sampling noise.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7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 i="1">
                <a:solidFill>
                  <a:srgbClr val="EFE6D3"/>
                </a:solidFill>
                <a:latin typeface="Georgia"/>
              </a:rPr>
              <a:t>Objective 1  ·  two findings that hold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24128"/>
            <a:ext cx="5715000" cy="5577840"/>
          </a:xfrm>
          <a:prstGeom prst="rect">
            <a:avLst/>
          </a:prstGeom>
          <a:solidFill>
            <a:srgbClr val="E7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5394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8C2F39"/>
                </a:solidFill>
                <a:latin typeface="Calibri"/>
              </a:rPr>
              <a:t>TASK 3  ·  SQUAD MARKET VALUE</a:t>
            </a:r>
          </a:p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171B22"/>
                </a:solidFill>
                <a:latin typeface="Georgia"/>
              </a:rPr>
              <a:t>Do UEFA squads carry a higher market value than non-UEFA squads?</a:t>
            </a:r>
          </a:p>
        </p:txBody>
      </p:sp>
      <p:pic>
        <p:nvPicPr>
          <p:cNvPr id="7" name="Picture 6" descr="task3_va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12848"/>
            <a:ext cx="5349240" cy="320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892040"/>
            <a:ext cx="5394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71B22"/>
                </a:solidFill>
                <a:latin typeface="Calibri"/>
              </a:rPr>
              <a:t>n = 14 vs 14   ·   €669.6m vs €257.2m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584F44"/>
                </a:solidFill>
                <a:latin typeface="Calibri"/>
              </a:rPr>
              <a:t>t(26) = 2.87   ·   one-sided p = 0.0041   ·   d = 1.08 (large)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4402C"/>
                </a:solidFill>
                <a:latin typeface="Calibri"/>
              </a:rPr>
              <a:t>Reject H₀. UEFA squads are roughly 2.6× as valuable.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024128"/>
            <a:ext cx="5715000" cy="5577840"/>
          </a:xfrm>
          <a:prstGeom prst="rect">
            <a:avLst/>
          </a:prstGeom>
          <a:solidFill>
            <a:srgbClr val="E7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115568"/>
            <a:ext cx="5394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8C2F39"/>
                </a:solidFill>
                <a:latin typeface="Calibri"/>
              </a:rPr>
              <a:t>TASK 4  ·  GOALKEEPER AGE</a:t>
            </a:r>
          </a:p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171B22"/>
                </a:solidFill>
                <a:latin typeface="Georgia"/>
              </a:rPr>
              <a:t>Is mean GK age different from 27 — the usual outfield prime?</a:t>
            </a:r>
          </a:p>
        </p:txBody>
      </p:sp>
      <p:pic>
        <p:nvPicPr>
          <p:cNvPr id="11" name="Picture 10" descr="task4_gk_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212848"/>
            <a:ext cx="5349240" cy="3200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55080" y="4892040"/>
            <a:ext cx="5394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71B22"/>
                </a:solidFill>
                <a:latin typeface="Calibri"/>
              </a:rPr>
              <a:t>n = 40   ·   mean 30.32 years   ·   95% CI (28.7, 31.9)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584F44"/>
                </a:solidFill>
                <a:latin typeface="Calibri"/>
              </a:rPr>
              <a:t>t(39) = 4.25   ·   p = 0.0001   ·   d = 0.67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4402C"/>
                </a:solidFill>
                <a:latin typeface="Calibri"/>
              </a:rPr>
              <a:t>Reject H₀. Keepers were also 3.6 years older than outfielders.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7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 i="1">
                <a:solidFill>
                  <a:srgbClr val="EFE6D3"/>
                </a:solidFill>
                <a:latin typeface="Georgia"/>
              </a:rPr>
              <a:t>Objective 2  ·  two pre-match linear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24128"/>
            <a:ext cx="5715000" cy="5577840"/>
          </a:xfrm>
          <a:prstGeom prst="rect">
            <a:avLst/>
          </a:prstGeom>
          <a:solidFill>
            <a:srgbClr val="E7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8C2F39"/>
                </a:solidFill>
                <a:latin typeface="Calibri"/>
              </a:rPr>
              <a:t>2.1  GOAL DIFFERENCE   ·   n = 104 matches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84F44"/>
                </a:solidFill>
                <a:latin typeface="Calibri"/>
              </a:rPr>
              <a:t>Train R² 0.49  ·  Test R² 0.31  ·  RMSE 1.57</a:t>
            </a:r>
          </a:p>
        </p:txBody>
      </p:sp>
      <p:pic>
        <p:nvPicPr>
          <p:cNvPr id="7" name="Picture 6" descr="reg1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38528"/>
            <a:ext cx="5440680" cy="3520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892040"/>
            <a:ext cx="5486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71B22"/>
                </a:solidFill>
                <a:latin typeface="Calibri"/>
              </a:rPr>
              <a:t>Significant:  rank_diff  (p = 0.002)   ·   value_diff  (p = 0.004)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584F44"/>
                </a:solidFill>
                <a:latin typeface="Calibri"/>
              </a:rPr>
              <a:t>A €1bn squad-value edge ≈ +1.7 net goals, holding rank fixed.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84F44"/>
                </a:solidFill>
                <a:latin typeface="Calibri"/>
              </a:rPr>
              <a:t>Max VIF 3.30  ·  Shapiro–Wilk p = 0.94  ·  residuals look normal.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024128"/>
            <a:ext cx="5715000" cy="5577840"/>
          </a:xfrm>
          <a:prstGeom prst="rect">
            <a:avLst/>
          </a:prstGeom>
          <a:solidFill>
            <a:srgbClr val="E7D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097280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8C2F39"/>
                </a:solidFill>
                <a:latin typeface="Calibri"/>
              </a:rPr>
              <a:t>2.2  TEAM GOALS SCORED   ·   n = 208 team-matches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84F44"/>
                </a:solidFill>
                <a:latin typeface="Calibri"/>
              </a:rPr>
              <a:t>Train R² 0.29  ·  Test R² 0.22  ·  RMSE 1.23</a:t>
            </a:r>
          </a:p>
        </p:txBody>
      </p:sp>
      <p:pic>
        <p:nvPicPr>
          <p:cNvPr id="11" name="Picture 10" descr="reg2_p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938528"/>
            <a:ext cx="5440680" cy="35204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09360" y="4892040"/>
            <a:ext cx="5486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71B22"/>
                </a:solidFill>
                <a:latin typeface="Calibri"/>
              </a:rPr>
              <a:t>Significant:  opp_rank  (p = 0.038)   ·   team_value  (p = 0.035)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584F44"/>
                </a:solidFill>
                <a:latin typeface="Calibri"/>
              </a:rPr>
              <a:t>Weaker fit is expected — an absolute tally is noisier than a difference.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84F44"/>
                </a:solidFill>
                <a:latin typeface="Calibri"/>
              </a:rPr>
              <a:t>Shapiro–Wilk p = 0.034  ·  mild skew  ·  a Poisson model is a natural next step.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146304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9A5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0" i="1">
                <a:solidFill>
                  <a:srgbClr val="EFE6D3"/>
                </a:solidFill>
                <a:latin typeface="Georgia"/>
              </a:rPr>
              <a:t>What to take away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1">
                <a:solidFill>
                  <a:srgbClr val="D9A544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09728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EFE6D3"/>
                </a:solidFill>
                <a:latin typeface="Calibri"/>
              </a:rPr>
              <a:t>Not supported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B9B6AC"/>
                </a:solidFill>
                <a:latin typeface="Calibri"/>
              </a:rPr>
              <a:t>Midfielders are not booked more than defenders, and knockout crowds are not significantly larger.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1">
                <a:solidFill>
                  <a:srgbClr val="D9A544"/>
                </a:solidFill>
                <a:latin typeface="Georgia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24028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EFE6D3"/>
                </a:solidFill>
                <a:latin typeface="Calibri"/>
              </a:rPr>
              <a:t>Europe’s market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B9B6AC"/>
                </a:solidFill>
                <a:latin typeface="Calibri"/>
              </a:rPr>
              <a:t>UEFA squads are ~2.6× as valuable as the rest of the field — a large, statistically clear gap.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375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1">
                <a:solidFill>
                  <a:srgbClr val="D9A544"/>
                </a:solidFill>
                <a:latin typeface="Georgia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38328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EFE6D3"/>
                </a:solidFill>
                <a:latin typeface="Calibri"/>
              </a:rPr>
              <a:t>Keepers last longer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B9B6AC"/>
                </a:solidFill>
                <a:latin typeface="Calibri"/>
              </a:rPr>
              <a:t>Goalkeepers averaged 30.3 years, well above the outfield prime of 27. Ochoa featured at 40.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805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1">
                <a:solidFill>
                  <a:srgbClr val="D9A544"/>
                </a:solidFill>
                <a:latin typeface="Georgia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52628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EFE6D3"/>
                </a:solidFill>
                <a:latin typeface="Calibri"/>
              </a:rPr>
              <a:t>Pre-match signal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B9B6AC"/>
                </a:solidFill>
                <a:latin typeface="Calibri"/>
              </a:rPr>
              <a:t>FIFA ranking and squad market value are the robust drivers of goal difference and goals scored.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